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</p:sldMasterIdLst>
  <p:notesMasterIdLst>
    <p:notesMasterId r:id="rId23"/>
  </p:notesMasterIdLst>
  <p:sldIdLst>
    <p:sldId id="282" r:id="rId5"/>
    <p:sldId id="263" r:id="rId6"/>
    <p:sldId id="264" r:id="rId7"/>
    <p:sldId id="283" r:id="rId8"/>
    <p:sldId id="284" r:id="rId9"/>
    <p:sldId id="291" r:id="rId10"/>
    <p:sldId id="293" r:id="rId11"/>
    <p:sldId id="287" r:id="rId12"/>
    <p:sldId id="292" r:id="rId13"/>
    <p:sldId id="294" r:id="rId14"/>
    <p:sldId id="288" r:id="rId15"/>
    <p:sldId id="295" r:id="rId16"/>
    <p:sldId id="298" r:id="rId17"/>
    <p:sldId id="296" r:id="rId18"/>
    <p:sldId id="297" r:id="rId19"/>
    <p:sldId id="290" r:id="rId20"/>
    <p:sldId id="265" r:id="rId21"/>
    <p:sldId id="299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42496B87-CEA4-4D99-BF52-30DA27AD352F}">
          <p14:sldIdLst>
            <p14:sldId id="282"/>
            <p14:sldId id="263"/>
            <p14:sldId id="264"/>
            <p14:sldId id="283"/>
            <p14:sldId id="284"/>
            <p14:sldId id="291"/>
            <p14:sldId id="293"/>
            <p14:sldId id="287"/>
            <p14:sldId id="292"/>
            <p14:sldId id="294"/>
            <p14:sldId id="288"/>
            <p14:sldId id="295"/>
            <p14:sldId id="298"/>
            <p14:sldId id="296"/>
            <p14:sldId id="297"/>
            <p14:sldId id="290"/>
            <p14:sldId id="265"/>
            <p14:sldId id="299"/>
          </p14:sldIdLst>
        </p14:section>
        <p14:section name="Content_10" id="{92804C05-CBC9-470E-A6B1-00C72B0058AF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63F7C1-D6D9-1B4F-A824-957D34D34DD4}" v="68" dt="2024-12-09T08:25:13.327"/>
    <p1510:client id="{6CD6A5CB-7EBB-7B57-3C24-0B6599C4F450}" v="13" dt="2024-12-08T19:22:14.525"/>
    <p1510:client id="{8500CCC5-26A8-84CE-D48A-ABC0020E26C5}" v="56" dt="2024-12-09T09:03:09.522"/>
    <p1510:client id="{8927C237-6523-3BB6-47A4-A650D02CAB06}" v="100" dt="2024-12-09T09:00:48.038"/>
    <p1510:client id="{92DABCA4-7632-D4D0-7B69-9A392754E32D}" v="1020" dt="2024-12-08T18:55:14.474"/>
    <p1510:client id="{A3B68B3A-9C55-DA5A-6085-F1088DDE6019}" v="21" dt="2024-12-09T07:27:57.857"/>
    <p1510:client id="{A7702F2B-AED3-8285-5106-BFA827B7209C}" v="432" dt="2024-12-08T16:22:33.950"/>
    <p1510:client id="{A7A8A6E4-AFEC-728F-1831-EA99659C2E07}" v="171" dt="2024-12-08T17:32:06.740"/>
    <p1510:client id="{AB85CFC3-FC2C-494B-918E-F0D2C8D07B0A}" v="2236" dt="2024-12-09T08:24:20.325"/>
    <p1510:client id="{BE112EA9-449C-7D44-31E6-E314573014BA}" v="1579" dt="2024-12-09T00:00:26.974"/>
    <p1510:client id="{DB90A430-13E7-8EAD-3899-A87E404A759D}" v="146" dt="2024-12-09T08:02:13.418"/>
    <p1510:client id="{DFCB942A-9E7E-4E0C-81FA-E41D14FBAA97}" v="75" dt="2024-12-08T11:36:57.0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65884E0-D2B2-495E-BBFF-D5209E9882B7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086E6AD7-2A67-4F37-8A21-29477FB62D5E}">
      <dgm:prSet phldrT="[Text]" phldr="0"/>
      <dgm:spPr/>
      <dgm:t>
        <a:bodyPr/>
        <a:lstStyle/>
        <a:p>
          <a:pPr rtl="0"/>
          <a:r>
            <a:rPr lang="en-US"/>
            <a:t>Capacitance(pF) to Voltage(mV)</a:t>
          </a:r>
        </a:p>
      </dgm:t>
    </dgm:pt>
    <dgm:pt modelId="{69F38DF3-A0D3-4960-BE18-1B675C1D9D2B}" type="parTrans" cxnId="{CC0827DD-AE15-4675-9ADD-AEF77839E1B9}">
      <dgm:prSet/>
      <dgm:spPr/>
    </dgm:pt>
    <dgm:pt modelId="{EB0CB13E-BE15-4B28-8D9A-C4B37D412DDA}" type="sibTrans" cxnId="{CC0827DD-AE15-4675-9ADD-AEF77839E1B9}">
      <dgm:prSet/>
      <dgm:spPr/>
      <dgm:t>
        <a:bodyPr/>
        <a:lstStyle/>
        <a:p>
          <a:endParaRPr lang="en-US"/>
        </a:p>
      </dgm:t>
    </dgm:pt>
    <dgm:pt modelId="{DBC6A8A2-7B34-4166-9A5C-23FC4AE95464}">
      <dgm:prSet phldrT="[Text]" phldr="0"/>
      <dgm:spPr/>
      <dgm:t>
        <a:bodyPr/>
        <a:lstStyle/>
        <a:p>
          <a:pPr rtl="0"/>
          <a:r>
            <a:rPr lang="en-US"/>
            <a:t>Amplifier Stage (</a:t>
          </a:r>
          <a:r>
            <a:rPr lang="en-US">
              <a:latin typeface="Calibri"/>
            </a:rPr>
            <a:t>mV</a:t>
          </a:r>
          <a:r>
            <a:rPr lang="en-US"/>
            <a:t> to </a:t>
          </a:r>
          <a:r>
            <a:rPr lang="en-US">
              <a:latin typeface="Calibri"/>
            </a:rPr>
            <a:t>V</a:t>
          </a:r>
          <a:r>
            <a:rPr lang="en-US"/>
            <a:t>)</a:t>
          </a:r>
        </a:p>
      </dgm:t>
    </dgm:pt>
    <dgm:pt modelId="{82F87CA4-0948-480E-B7C3-C087601454CD}" type="parTrans" cxnId="{880DE0D6-7D16-4187-B4C2-AADC9950C493}">
      <dgm:prSet/>
      <dgm:spPr/>
    </dgm:pt>
    <dgm:pt modelId="{7E83EAE1-F128-4117-AE03-0AAA5CFC3683}" type="sibTrans" cxnId="{880DE0D6-7D16-4187-B4C2-AADC9950C493}">
      <dgm:prSet/>
      <dgm:spPr/>
      <dgm:t>
        <a:bodyPr/>
        <a:lstStyle/>
        <a:p>
          <a:endParaRPr lang="en-US"/>
        </a:p>
      </dgm:t>
    </dgm:pt>
    <dgm:pt modelId="{02CB5281-01BC-41F9-9089-A3089A65EAE6}">
      <dgm:prSet phldrT="[Text]" phldr="0"/>
      <dgm:spPr/>
      <dgm:t>
        <a:bodyPr/>
        <a:lstStyle/>
        <a:p>
          <a:pPr rtl="0"/>
          <a:r>
            <a:rPr lang="en-US"/>
            <a:t>Peak detector</a:t>
          </a:r>
        </a:p>
      </dgm:t>
    </dgm:pt>
    <dgm:pt modelId="{86CE3B42-1C58-43F2-A868-931AB243FF01}" type="parTrans" cxnId="{0C0BFD3D-3D54-423D-B083-4D7EC294802E}">
      <dgm:prSet/>
      <dgm:spPr/>
    </dgm:pt>
    <dgm:pt modelId="{B3766AD5-1124-4D13-BE1A-3E0BD29E9C05}" type="sibTrans" cxnId="{0C0BFD3D-3D54-423D-B083-4D7EC294802E}">
      <dgm:prSet/>
      <dgm:spPr/>
    </dgm:pt>
    <dgm:pt modelId="{FCB72431-358C-4F92-9A4B-BF13E54A8ED6}" type="pres">
      <dgm:prSet presAssocID="{865884E0-D2B2-495E-BBFF-D5209E9882B7}" presName="Name0" presStyleCnt="0">
        <dgm:presLayoutVars>
          <dgm:dir/>
          <dgm:resizeHandles val="exact"/>
        </dgm:presLayoutVars>
      </dgm:prSet>
      <dgm:spPr/>
    </dgm:pt>
    <dgm:pt modelId="{699CFE72-664D-4866-A713-5D6E2C6F770E}" type="pres">
      <dgm:prSet presAssocID="{086E6AD7-2A67-4F37-8A21-29477FB62D5E}" presName="node" presStyleLbl="node1" presStyleIdx="0" presStyleCnt="3">
        <dgm:presLayoutVars>
          <dgm:bulletEnabled val="1"/>
        </dgm:presLayoutVars>
      </dgm:prSet>
      <dgm:spPr/>
    </dgm:pt>
    <dgm:pt modelId="{DD1D9BD1-FF1C-4900-B695-8651DD5AEB7D}" type="pres">
      <dgm:prSet presAssocID="{EB0CB13E-BE15-4B28-8D9A-C4B37D412DDA}" presName="sibTrans" presStyleLbl="sibTrans2D1" presStyleIdx="0" presStyleCnt="2"/>
      <dgm:spPr/>
    </dgm:pt>
    <dgm:pt modelId="{9AA8CA1D-063F-4079-9C6B-08964BF76778}" type="pres">
      <dgm:prSet presAssocID="{EB0CB13E-BE15-4B28-8D9A-C4B37D412DDA}" presName="connectorText" presStyleLbl="sibTrans2D1" presStyleIdx="0" presStyleCnt="2"/>
      <dgm:spPr/>
    </dgm:pt>
    <dgm:pt modelId="{983982A9-0A67-4A88-A89D-EAF622632EA2}" type="pres">
      <dgm:prSet presAssocID="{DBC6A8A2-7B34-4166-9A5C-23FC4AE95464}" presName="node" presStyleLbl="node1" presStyleIdx="1" presStyleCnt="3">
        <dgm:presLayoutVars>
          <dgm:bulletEnabled val="1"/>
        </dgm:presLayoutVars>
      </dgm:prSet>
      <dgm:spPr/>
    </dgm:pt>
    <dgm:pt modelId="{2EDBB356-8E28-4EA6-8A67-7864D8A25AFA}" type="pres">
      <dgm:prSet presAssocID="{7E83EAE1-F128-4117-AE03-0AAA5CFC3683}" presName="sibTrans" presStyleLbl="sibTrans2D1" presStyleIdx="1" presStyleCnt="2"/>
      <dgm:spPr/>
    </dgm:pt>
    <dgm:pt modelId="{CF694C09-EC5D-4AFC-BAEB-C5C3C0E98755}" type="pres">
      <dgm:prSet presAssocID="{7E83EAE1-F128-4117-AE03-0AAA5CFC3683}" presName="connectorText" presStyleLbl="sibTrans2D1" presStyleIdx="1" presStyleCnt="2"/>
      <dgm:spPr/>
    </dgm:pt>
    <dgm:pt modelId="{822232A7-4F48-45D9-8407-9FCE1810D648}" type="pres">
      <dgm:prSet presAssocID="{02CB5281-01BC-41F9-9089-A3089A65EAE6}" presName="node" presStyleLbl="node1" presStyleIdx="2" presStyleCnt="3">
        <dgm:presLayoutVars>
          <dgm:bulletEnabled val="1"/>
        </dgm:presLayoutVars>
      </dgm:prSet>
      <dgm:spPr/>
    </dgm:pt>
  </dgm:ptLst>
  <dgm:cxnLst>
    <dgm:cxn modelId="{A25C0408-CA57-46FF-B989-7055220FCB55}" type="presOf" srcId="{7E83EAE1-F128-4117-AE03-0AAA5CFC3683}" destId="{2EDBB356-8E28-4EA6-8A67-7864D8A25AFA}" srcOrd="0" destOrd="0" presId="urn:microsoft.com/office/officeart/2005/8/layout/process1"/>
    <dgm:cxn modelId="{AACFFD0F-A3F1-440E-AAB3-0E27DB325ED1}" type="presOf" srcId="{02CB5281-01BC-41F9-9089-A3089A65EAE6}" destId="{822232A7-4F48-45D9-8407-9FCE1810D648}" srcOrd="0" destOrd="0" presId="urn:microsoft.com/office/officeart/2005/8/layout/process1"/>
    <dgm:cxn modelId="{0C0BFD3D-3D54-423D-B083-4D7EC294802E}" srcId="{865884E0-D2B2-495E-BBFF-D5209E9882B7}" destId="{02CB5281-01BC-41F9-9089-A3089A65EAE6}" srcOrd="2" destOrd="0" parTransId="{86CE3B42-1C58-43F2-A868-931AB243FF01}" sibTransId="{B3766AD5-1124-4D13-BE1A-3E0BD29E9C05}"/>
    <dgm:cxn modelId="{6EC5D85F-4116-4ECD-AC0D-18C2E66174C8}" type="presOf" srcId="{DBC6A8A2-7B34-4166-9A5C-23FC4AE95464}" destId="{983982A9-0A67-4A88-A89D-EAF622632EA2}" srcOrd="0" destOrd="0" presId="urn:microsoft.com/office/officeart/2005/8/layout/process1"/>
    <dgm:cxn modelId="{343C5641-CB27-4E89-AB35-7B4690735CD9}" type="presOf" srcId="{EB0CB13E-BE15-4B28-8D9A-C4B37D412DDA}" destId="{DD1D9BD1-FF1C-4900-B695-8651DD5AEB7D}" srcOrd="0" destOrd="0" presId="urn:microsoft.com/office/officeart/2005/8/layout/process1"/>
    <dgm:cxn modelId="{05027849-C3D6-4C91-8B14-CC0AE7E46299}" type="presOf" srcId="{865884E0-D2B2-495E-BBFF-D5209E9882B7}" destId="{FCB72431-358C-4F92-9A4B-BF13E54A8ED6}" srcOrd="0" destOrd="0" presId="urn:microsoft.com/office/officeart/2005/8/layout/process1"/>
    <dgm:cxn modelId="{880DE0D6-7D16-4187-B4C2-AADC9950C493}" srcId="{865884E0-D2B2-495E-BBFF-D5209E9882B7}" destId="{DBC6A8A2-7B34-4166-9A5C-23FC4AE95464}" srcOrd="1" destOrd="0" parTransId="{82F87CA4-0948-480E-B7C3-C087601454CD}" sibTransId="{7E83EAE1-F128-4117-AE03-0AAA5CFC3683}"/>
    <dgm:cxn modelId="{CC0827DD-AE15-4675-9ADD-AEF77839E1B9}" srcId="{865884E0-D2B2-495E-BBFF-D5209E9882B7}" destId="{086E6AD7-2A67-4F37-8A21-29477FB62D5E}" srcOrd="0" destOrd="0" parTransId="{69F38DF3-A0D3-4960-BE18-1B675C1D9D2B}" sibTransId="{EB0CB13E-BE15-4B28-8D9A-C4B37D412DDA}"/>
    <dgm:cxn modelId="{14618EE0-3520-4DE8-8018-BE0E93ED50A3}" type="presOf" srcId="{086E6AD7-2A67-4F37-8A21-29477FB62D5E}" destId="{699CFE72-664D-4866-A713-5D6E2C6F770E}" srcOrd="0" destOrd="0" presId="urn:microsoft.com/office/officeart/2005/8/layout/process1"/>
    <dgm:cxn modelId="{ADC57CEA-8E13-4E8C-8244-9720AED4C378}" type="presOf" srcId="{EB0CB13E-BE15-4B28-8D9A-C4B37D412DDA}" destId="{9AA8CA1D-063F-4079-9C6B-08964BF76778}" srcOrd="1" destOrd="0" presId="urn:microsoft.com/office/officeart/2005/8/layout/process1"/>
    <dgm:cxn modelId="{523340FD-18E2-48FE-BBCA-F005961003BF}" type="presOf" srcId="{7E83EAE1-F128-4117-AE03-0AAA5CFC3683}" destId="{CF694C09-EC5D-4AFC-BAEB-C5C3C0E98755}" srcOrd="1" destOrd="0" presId="urn:microsoft.com/office/officeart/2005/8/layout/process1"/>
    <dgm:cxn modelId="{BE786889-0F02-49AB-8825-762F0E896754}" type="presParOf" srcId="{FCB72431-358C-4F92-9A4B-BF13E54A8ED6}" destId="{699CFE72-664D-4866-A713-5D6E2C6F770E}" srcOrd="0" destOrd="0" presId="urn:microsoft.com/office/officeart/2005/8/layout/process1"/>
    <dgm:cxn modelId="{4174952A-040A-4738-ACCA-812E65C300C5}" type="presParOf" srcId="{FCB72431-358C-4F92-9A4B-BF13E54A8ED6}" destId="{DD1D9BD1-FF1C-4900-B695-8651DD5AEB7D}" srcOrd="1" destOrd="0" presId="urn:microsoft.com/office/officeart/2005/8/layout/process1"/>
    <dgm:cxn modelId="{3A1FF37B-F351-4936-998E-EBF85AC1A764}" type="presParOf" srcId="{DD1D9BD1-FF1C-4900-B695-8651DD5AEB7D}" destId="{9AA8CA1D-063F-4079-9C6B-08964BF76778}" srcOrd="0" destOrd="0" presId="urn:microsoft.com/office/officeart/2005/8/layout/process1"/>
    <dgm:cxn modelId="{26A28B94-538D-458C-8985-FD41789704E5}" type="presParOf" srcId="{FCB72431-358C-4F92-9A4B-BF13E54A8ED6}" destId="{983982A9-0A67-4A88-A89D-EAF622632EA2}" srcOrd="2" destOrd="0" presId="urn:microsoft.com/office/officeart/2005/8/layout/process1"/>
    <dgm:cxn modelId="{D7EDDCDB-A349-41B4-9B5A-8509E559BDD7}" type="presParOf" srcId="{FCB72431-358C-4F92-9A4B-BF13E54A8ED6}" destId="{2EDBB356-8E28-4EA6-8A67-7864D8A25AFA}" srcOrd="3" destOrd="0" presId="urn:microsoft.com/office/officeart/2005/8/layout/process1"/>
    <dgm:cxn modelId="{C1EEE31A-19B5-4F29-91F7-202017AEFA89}" type="presParOf" srcId="{2EDBB356-8E28-4EA6-8A67-7864D8A25AFA}" destId="{CF694C09-EC5D-4AFC-BAEB-C5C3C0E98755}" srcOrd="0" destOrd="0" presId="urn:microsoft.com/office/officeart/2005/8/layout/process1"/>
    <dgm:cxn modelId="{465017B4-6A55-45CB-965B-A1DDB0A08134}" type="presParOf" srcId="{FCB72431-358C-4F92-9A4B-BF13E54A8ED6}" destId="{822232A7-4F48-45D9-8407-9FCE1810D648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9CFE72-664D-4866-A713-5D6E2C6F770E}">
      <dsp:nvSpPr>
        <dsp:cNvPr id="0" name=""/>
        <dsp:cNvSpPr/>
      </dsp:nvSpPr>
      <dsp:spPr>
        <a:xfrm>
          <a:off x="5139" y="2470094"/>
          <a:ext cx="1536198" cy="92171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Capacitance(pF) to Voltage(mV)</a:t>
          </a:r>
        </a:p>
      </dsp:txBody>
      <dsp:txXfrm>
        <a:off x="32135" y="2497090"/>
        <a:ext cx="1482206" cy="867727"/>
      </dsp:txXfrm>
    </dsp:sp>
    <dsp:sp modelId="{DD1D9BD1-FF1C-4900-B695-8651DD5AEB7D}">
      <dsp:nvSpPr>
        <dsp:cNvPr id="0" name=""/>
        <dsp:cNvSpPr/>
      </dsp:nvSpPr>
      <dsp:spPr>
        <a:xfrm>
          <a:off x="1694958" y="2740465"/>
          <a:ext cx="325674" cy="3809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1694958" y="2816660"/>
        <a:ext cx="227972" cy="228587"/>
      </dsp:txXfrm>
    </dsp:sp>
    <dsp:sp modelId="{983982A9-0A67-4A88-A89D-EAF622632EA2}">
      <dsp:nvSpPr>
        <dsp:cNvPr id="0" name=""/>
        <dsp:cNvSpPr/>
      </dsp:nvSpPr>
      <dsp:spPr>
        <a:xfrm>
          <a:off x="2155818" y="2470094"/>
          <a:ext cx="1536198" cy="92171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Amplifier Stage (</a:t>
          </a:r>
          <a:r>
            <a:rPr lang="en-US" sz="1400" kern="1200">
              <a:latin typeface="Calibri"/>
            </a:rPr>
            <a:t>mV</a:t>
          </a:r>
          <a:r>
            <a:rPr lang="en-US" sz="1400" kern="1200"/>
            <a:t> to </a:t>
          </a:r>
          <a:r>
            <a:rPr lang="en-US" sz="1400" kern="1200">
              <a:latin typeface="Calibri"/>
            </a:rPr>
            <a:t>V</a:t>
          </a:r>
          <a:r>
            <a:rPr lang="en-US" sz="1400" kern="1200"/>
            <a:t>)</a:t>
          </a:r>
        </a:p>
      </dsp:txBody>
      <dsp:txXfrm>
        <a:off x="2182814" y="2497090"/>
        <a:ext cx="1482206" cy="867727"/>
      </dsp:txXfrm>
    </dsp:sp>
    <dsp:sp modelId="{2EDBB356-8E28-4EA6-8A67-7864D8A25AFA}">
      <dsp:nvSpPr>
        <dsp:cNvPr id="0" name=""/>
        <dsp:cNvSpPr/>
      </dsp:nvSpPr>
      <dsp:spPr>
        <a:xfrm>
          <a:off x="3845636" y="2740465"/>
          <a:ext cx="325674" cy="3809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3845636" y="2816660"/>
        <a:ext cx="227972" cy="228587"/>
      </dsp:txXfrm>
    </dsp:sp>
    <dsp:sp modelId="{822232A7-4F48-45D9-8407-9FCE1810D648}">
      <dsp:nvSpPr>
        <dsp:cNvPr id="0" name=""/>
        <dsp:cNvSpPr/>
      </dsp:nvSpPr>
      <dsp:spPr>
        <a:xfrm>
          <a:off x="4306496" y="2470094"/>
          <a:ext cx="1536198" cy="92171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Peak detector</a:t>
          </a:r>
        </a:p>
      </dsp:txBody>
      <dsp:txXfrm>
        <a:off x="4333492" y="2497090"/>
        <a:ext cx="1482206" cy="8677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B8E2E2-7DEC-43FC-9E96-344243D7A5FA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C95AB1-DF56-4647-9E54-A77BFDF7A3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568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22F1DD-8442-49C9-B085-DD8981F986A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29667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95AB1-DF56-4647-9E54-A77BFDF7A30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1110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C95AB1-DF56-4647-9E54-A77BFDF7A30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26360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C95AB1-DF56-4647-9E54-A77BFDF7A30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4240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C95AB1-DF56-4647-9E54-A77BFDF7A30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86436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C95AB1-DF56-4647-9E54-A77BFDF7A30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12179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C95AB1-DF56-4647-9E54-A77BFDF7A30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23266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C95AB1-DF56-4647-9E54-A77BFDF7A30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26456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C95AB1-DF56-4647-9E54-A77BFDF7A30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07896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C95AB1-DF56-4647-9E54-A77BFDF7A30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63953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C95AB1-DF56-4647-9E54-A77BFDF7A30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64157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C95AB1-DF56-4647-9E54-A77BFDF7A30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54893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C95AB1-DF56-4647-9E54-A77BFDF7A30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39159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C95AB1-DF56-4647-9E54-A77BFDF7A30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7871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434D4-776A-48CA-860C-B5E9EA3167C9}" type="datetime1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94CE6-4B3E-4E76-B420-26BBDCBE82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354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CEA49-8DC8-4BC5-98AB-8669FC2BD896}" type="datetime1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94CE6-4B3E-4E76-B420-26BBDCBE82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049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65E6D-D8A4-4E7D-8500-E62EE9AA588F}" type="datetime1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94CE6-4B3E-4E76-B420-26BBDCBE82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077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D08F9-4FA3-49C6-9419-432A4143BD9D}" type="datetime1">
              <a:rPr lang="en-US" smtClean="0"/>
              <a:t>3/11/2025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94CE6-4B3E-4E76-B420-26BBDCBE82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970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BC509-E8D2-4873-9C56-7CFFACAD4EC2}" type="datetime1">
              <a:rPr lang="en-US" smtClean="0"/>
              <a:t>3/11/2025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94CE6-4B3E-4E76-B420-26BBDCBE82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794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3A92A-3ABE-45E2-95BF-F57D059AFA62}" type="datetime1">
              <a:rPr lang="en-US" smtClean="0"/>
              <a:t>3/11/2025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94CE6-4B3E-4E76-B420-26BBDCBE82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756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05426-94A7-4BCA-B92E-CAD370C182D5}" type="datetime1">
              <a:rPr lang="en-US" smtClean="0"/>
              <a:t>3/11/2025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94CE6-4B3E-4E76-B420-26BBDCBE82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821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ED355-E51A-46B2-B79B-C598E870DE2A}" type="datetime1">
              <a:rPr lang="en-US" smtClean="0"/>
              <a:t>3/11/2025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94CE6-4B3E-4E76-B420-26BBDCBE82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839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A92D2-FEE2-4B7B-856E-37F5A39F46E4}" type="datetime1">
              <a:rPr lang="en-US" smtClean="0"/>
              <a:t>3/11/2025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94CE6-4B3E-4E76-B420-26BBDCBE82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099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AD120-B772-4361-B69E-D5EAD9DC7F67}" type="datetime1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94CE6-4B3E-4E76-B420-26BBDCBE82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185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B1116-5B11-4A81-B499-1A93AA7D0769}" type="datetime1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94CE6-4B3E-4E76-B420-26BBDCBE82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03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D5245C86-9F35-4B68-8866-2E7C1515E97B}" type="datetime1">
              <a:rPr lang="en-US" smtClean="0"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2CF94CE6-4B3E-4E76-B420-26BBDCBE82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7295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jpeg"/><Relationship Id="rId3" Type="http://schemas.openxmlformats.org/officeDocument/2006/relationships/image" Target="../media/image14.svg"/><Relationship Id="rId7" Type="http://schemas.openxmlformats.org/officeDocument/2006/relationships/image" Target="../media/image7.svg"/><Relationship Id="rId12" Type="http://schemas.openxmlformats.org/officeDocument/2006/relationships/image" Target="../media/image19.jpeg"/><Relationship Id="rId2" Type="http://schemas.openxmlformats.org/officeDocument/2006/relationships/image" Target="../media/image2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8.jpeg"/><Relationship Id="rId5" Type="http://schemas.openxmlformats.org/officeDocument/2006/relationships/image" Target="../media/image5.svg"/><Relationship Id="rId15" Type="http://schemas.openxmlformats.org/officeDocument/2006/relationships/image" Target="../media/image22.jpeg"/><Relationship Id="rId10" Type="http://schemas.openxmlformats.org/officeDocument/2006/relationships/image" Target="../media/image17.jpeg"/><Relationship Id="rId4" Type="http://schemas.openxmlformats.org/officeDocument/2006/relationships/image" Target="../media/image4.png"/><Relationship Id="rId9" Type="http://schemas.openxmlformats.org/officeDocument/2006/relationships/image" Target="../media/image16.svg"/><Relationship Id="rId14" Type="http://schemas.openxmlformats.org/officeDocument/2006/relationships/image" Target="../media/image21.gi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27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2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25.jpe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14.svg"/><Relationship Id="rId9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33.jpeg"/><Relationship Id="rId3" Type="http://schemas.openxmlformats.org/officeDocument/2006/relationships/image" Target="../media/image2.png"/><Relationship Id="rId7" Type="http://schemas.openxmlformats.org/officeDocument/2006/relationships/image" Target="../media/image28.jpe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31.png"/><Relationship Id="rId5" Type="http://schemas.openxmlformats.org/officeDocument/2006/relationships/image" Target="../media/image4.png"/><Relationship Id="rId15" Type="http://schemas.openxmlformats.org/officeDocument/2006/relationships/image" Target="../media/image35.jpeg"/><Relationship Id="rId10" Type="http://schemas.openxmlformats.org/officeDocument/2006/relationships/image" Target="../media/image30.png"/><Relationship Id="rId4" Type="http://schemas.openxmlformats.org/officeDocument/2006/relationships/image" Target="../media/image14.sv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microsoft.com/office/2007/relationships/hdphoto" Target="../media/hdphoto2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37.png"/><Relationship Id="rId5" Type="http://schemas.openxmlformats.org/officeDocument/2006/relationships/image" Target="../media/image4.png"/><Relationship Id="rId10" Type="http://schemas.microsoft.com/office/2007/relationships/hdphoto" Target="../media/hdphoto1.wdp"/><Relationship Id="rId4" Type="http://schemas.openxmlformats.org/officeDocument/2006/relationships/image" Target="../media/image14.svg"/><Relationship Id="rId9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diagramQuickStyle" Target="../diagrams/quickStyle1.xml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diagramLayout" Target="../diagrams/layout1.xml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diagramData" Target="../diagrams/data1.xml"/><Relationship Id="rId5" Type="http://schemas.openxmlformats.org/officeDocument/2006/relationships/image" Target="../media/image4.png"/><Relationship Id="rId15" Type="http://schemas.microsoft.com/office/2007/relationships/diagramDrawing" Target="../diagrams/drawing1.xml"/><Relationship Id="rId10" Type="http://schemas.openxmlformats.org/officeDocument/2006/relationships/image" Target="../media/image40.png"/><Relationship Id="rId4" Type="http://schemas.openxmlformats.org/officeDocument/2006/relationships/image" Target="../media/image3.svg"/><Relationship Id="rId9" Type="http://schemas.openxmlformats.org/officeDocument/2006/relationships/image" Target="../media/image39.png"/><Relationship Id="rId14" Type="http://schemas.openxmlformats.org/officeDocument/2006/relationships/diagramColors" Target="../diagrams/colors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43.tiff"/><Relationship Id="rId4" Type="http://schemas.openxmlformats.org/officeDocument/2006/relationships/image" Target="../media/image3.svg"/><Relationship Id="rId9" Type="http://schemas.openxmlformats.org/officeDocument/2006/relationships/image" Target="../media/image4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43.tif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46.png"/><Relationship Id="rId5" Type="http://schemas.openxmlformats.org/officeDocument/2006/relationships/image" Target="../media/image4.png"/><Relationship Id="rId10" Type="http://schemas.openxmlformats.org/officeDocument/2006/relationships/image" Target="../media/image45.png"/><Relationship Id="rId4" Type="http://schemas.openxmlformats.org/officeDocument/2006/relationships/image" Target="../media/image3.svg"/><Relationship Id="rId9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47.tiff"/><Relationship Id="rId5" Type="http://schemas.openxmlformats.org/officeDocument/2006/relationships/image" Target="../media/image4.png"/><Relationship Id="rId10" Type="http://schemas.openxmlformats.org/officeDocument/2006/relationships/image" Target="../media/image13.svg"/><Relationship Id="rId4" Type="http://schemas.openxmlformats.org/officeDocument/2006/relationships/image" Target="../media/image3.svg"/><Relationship Id="rId9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3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50.png"/><Relationship Id="rId5" Type="http://schemas.openxmlformats.org/officeDocument/2006/relationships/image" Target="../media/image4.png"/><Relationship Id="rId10" Type="http://schemas.openxmlformats.org/officeDocument/2006/relationships/image" Target="../media/image49.png"/><Relationship Id="rId4" Type="http://schemas.openxmlformats.org/officeDocument/2006/relationships/image" Target="../media/image3.svg"/><Relationship Id="rId9" Type="http://schemas.openxmlformats.org/officeDocument/2006/relationships/image" Target="../media/image48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55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5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53.svg"/><Relationship Id="rId5" Type="http://schemas.openxmlformats.org/officeDocument/2006/relationships/image" Target="../media/image4.png"/><Relationship Id="rId15" Type="http://schemas.openxmlformats.org/officeDocument/2006/relationships/image" Target="../media/image13.svg"/><Relationship Id="rId10" Type="http://schemas.openxmlformats.org/officeDocument/2006/relationships/image" Target="../media/image52.png"/><Relationship Id="rId4" Type="http://schemas.openxmlformats.org/officeDocument/2006/relationships/image" Target="../media/image3.svg"/><Relationship Id="rId9" Type="http://schemas.openxmlformats.org/officeDocument/2006/relationships/image" Target="../media/image51.jpeg"/><Relationship Id="rId1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58.png"/><Relationship Id="rId5" Type="http://schemas.openxmlformats.org/officeDocument/2006/relationships/image" Target="../media/image4.png"/><Relationship Id="rId10" Type="http://schemas.openxmlformats.org/officeDocument/2006/relationships/image" Target="../media/image57.png"/><Relationship Id="rId4" Type="http://schemas.openxmlformats.org/officeDocument/2006/relationships/image" Target="../media/image3.svg"/><Relationship Id="rId9" Type="http://schemas.openxmlformats.org/officeDocument/2006/relationships/image" Target="../media/image5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Relationship Id="rId9" Type="http://schemas.openxmlformats.org/officeDocument/2006/relationships/image" Target="../media/image59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3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2.png"/><Relationship Id="rId5" Type="http://schemas.openxmlformats.org/officeDocument/2006/relationships/image" Target="../media/image4.png"/><Relationship Id="rId10" Type="http://schemas.openxmlformats.org/officeDocument/2006/relationships/image" Target="../media/image61.png"/><Relationship Id="rId4" Type="http://schemas.openxmlformats.org/officeDocument/2006/relationships/image" Target="../media/image3.svg"/><Relationship Id="rId9" Type="http://schemas.openxmlformats.org/officeDocument/2006/relationships/image" Target="../media/image6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13.svg"/><Relationship Id="rId4" Type="http://schemas.openxmlformats.org/officeDocument/2006/relationships/image" Target="../media/image14.svg"/><Relationship Id="rId9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231867" y="2721114"/>
            <a:ext cx="11321036" cy="7078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ts val="1710"/>
              </a:lnSpc>
              <a:spcBef>
                <a:spcPct val="0"/>
              </a:spcBef>
            </a:pPr>
            <a:r>
              <a:rPr lang="en-US" sz="3200" i="1" dirty="0">
                <a:solidFill>
                  <a:srgbClr val="FFFFFF"/>
                </a:solidFill>
                <a:latin typeface="Gruppo"/>
                <a:ea typeface="Gruppo"/>
                <a:cs typeface="Gruppo"/>
                <a:sym typeface="Gruppo"/>
              </a:rPr>
              <a:t>Free to ROM</a:t>
            </a:r>
          </a:p>
          <a:p>
            <a:pPr algn="ctr" defTabSz="609630">
              <a:lnSpc>
                <a:spcPts val="1710"/>
              </a:lnSpc>
              <a:spcBef>
                <a:spcPct val="0"/>
              </a:spcBef>
            </a:pPr>
            <a:r>
              <a:rPr lang="en-US" sz="3200" i="1" dirty="0">
                <a:solidFill>
                  <a:srgbClr val="FFFFFF"/>
                </a:solidFill>
                <a:latin typeface="Gruppo"/>
                <a:ea typeface="Gruppo"/>
                <a:cs typeface="Gruppo"/>
                <a:sym typeface="Gruppo"/>
              </a:rPr>
              <a:t> </a:t>
            </a:r>
          </a:p>
          <a:p>
            <a:pPr algn="ctr" defTabSz="609630">
              <a:lnSpc>
                <a:spcPts val="1710"/>
              </a:lnSpc>
              <a:spcBef>
                <a:spcPct val="0"/>
              </a:spcBef>
            </a:pPr>
            <a:r>
              <a:rPr lang="en-US" sz="3200" i="1" dirty="0">
                <a:solidFill>
                  <a:srgbClr val="FFFFFF"/>
                </a:solidFill>
                <a:latin typeface="Gruppo"/>
                <a:ea typeface="Gruppo"/>
                <a:cs typeface="Gruppo"/>
                <a:sym typeface="Gruppo"/>
              </a:rPr>
              <a:t>- For Rehabilitation and Healthcare-</a:t>
            </a:r>
          </a:p>
        </p:txBody>
      </p:sp>
      <p:pic>
        <p:nvPicPr>
          <p:cNvPr id="14" name="Picture 6">
            <a:extLst>
              <a:ext uri="{FF2B5EF4-FFF2-40B4-BE49-F238E27FC236}">
                <a16:creationId xmlns:a16="http://schemas.microsoft.com/office/drawing/2014/main" id="{0727ABE9-9CFC-867D-1450-3C7EF4103A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1656" y="1525299"/>
            <a:ext cx="2461458" cy="83100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38CE9685-E054-8CD1-9168-C4D38B3C3833}"/>
              </a:ext>
            </a:extLst>
          </p:cNvPr>
          <p:cNvSpPr txBox="1">
            <a:spLocks/>
          </p:cNvSpPr>
          <p:nvPr/>
        </p:nvSpPr>
        <p:spPr>
          <a:xfrm>
            <a:off x="10773988" y="6519544"/>
            <a:ext cx="906736" cy="457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CF94CE6-4B3E-4E76-B420-26BBDCBE82E0}" type="slidenum">
              <a:rPr lang="en-US" sz="6600" smtClean="0">
                <a:solidFill>
                  <a:schemeClr val="bg1"/>
                </a:solidFill>
              </a:rPr>
              <a:pPr/>
              <a:t>1</a:t>
            </a:fld>
            <a:endParaRPr lang="en-US" sz="6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019113" y="723075"/>
            <a:ext cx="367609" cy="345553"/>
          </a:xfrm>
          <a:custGeom>
            <a:avLst/>
            <a:gdLst/>
            <a:ahLst/>
            <a:cxnLst/>
            <a:rect l="l" t="t" r="r" b="b"/>
            <a:pathLst>
              <a:path w="551414" h="518330">
                <a:moveTo>
                  <a:pt x="0" y="0"/>
                </a:moveTo>
                <a:lnTo>
                  <a:pt x="551414" y="0"/>
                </a:lnTo>
                <a:lnTo>
                  <a:pt x="551414" y="518330"/>
                </a:lnTo>
                <a:lnTo>
                  <a:pt x="0" y="518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0946461" y="723075"/>
            <a:ext cx="559739" cy="300224"/>
          </a:xfrm>
          <a:custGeom>
            <a:avLst/>
            <a:gdLst/>
            <a:ahLst/>
            <a:cxnLst/>
            <a:rect l="l" t="t" r="r" b="b"/>
            <a:pathLst>
              <a:path w="839609" h="450336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0386723" y="723075"/>
            <a:ext cx="559739" cy="300224"/>
          </a:xfrm>
          <a:custGeom>
            <a:avLst/>
            <a:gdLst/>
            <a:ahLst/>
            <a:cxnLst/>
            <a:rect l="l" t="t" r="r" b="b"/>
            <a:pathLst>
              <a:path w="839609" h="450336">
                <a:moveTo>
                  <a:pt x="0" y="0"/>
                </a:moveTo>
                <a:lnTo>
                  <a:pt x="839608" y="0"/>
                </a:lnTo>
                <a:lnTo>
                  <a:pt x="839608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95915" y="6506062"/>
            <a:ext cx="1819325" cy="325045"/>
          </a:xfrm>
          <a:custGeom>
            <a:avLst/>
            <a:gdLst/>
            <a:ahLst/>
            <a:cxnLst/>
            <a:rect l="l" t="t" r="r" b="b"/>
            <a:pathLst>
              <a:path w="2728988" h="487567">
                <a:moveTo>
                  <a:pt x="0" y="0"/>
                </a:moveTo>
                <a:lnTo>
                  <a:pt x="2728988" y="0"/>
                </a:lnTo>
                <a:lnTo>
                  <a:pt x="2728988" y="487566"/>
                </a:lnTo>
                <a:lnTo>
                  <a:pt x="0" y="4875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457864" y="374334"/>
            <a:ext cx="8081687" cy="5487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ts val="4587"/>
              </a:lnSpc>
            </a:pPr>
            <a:r>
              <a:rPr lang="en-US" sz="364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VALUE PROPOSITION &amp; OVERVIEW</a:t>
            </a:r>
          </a:p>
        </p:txBody>
      </p: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1177099" y="3735373"/>
            <a:ext cx="2037021" cy="1985562"/>
            <a:chOff x="-366471" y="-11891"/>
            <a:chExt cx="15572971" cy="14863810"/>
          </a:xfrm>
        </p:grpSpPr>
        <p:sp>
          <p:nvSpPr>
            <p:cNvPr id="13" name="Freeform 13"/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" name="Freeform 14"/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00FFFF"/>
            </a:solid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28" name="TextBox 3">
            <a:extLst>
              <a:ext uri="{FF2B5EF4-FFF2-40B4-BE49-F238E27FC236}">
                <a16:creationId xmlns:a16="http://schemas.microsoft.com/office/drawing/2014/main" id="{30AB8B10-BEEC-B15A-25DC-0873C00BCD59}"/>
              </a:ext>
            </a:extLst>
          </p:cNvPr>
          <p:cNvSpPr txBox="1"/>
          <p:nvPr/>
        </p:nvSpPr>
        <p:spPr>
          <a:xfrm>
            <a:off x="1005578" y="1042964"/>
            <a:ext cx="10177129" cy="95410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>
                <a:solidFill>
                  <a:schemeClr val="bg1"/>
                </a:solidFill>
              </a:rPr>
              <a:t>Do your rehab at home or anywhere, personalize your recovery plans, and stay motivated</a:t>
            </a:r>
          </a:p>
        </p:txBody>
      </p:sp>
      <p:sp>
        <p:nvSpPr>
          <p:cNvPr id="29" name="Slide Number Placeholder 3">
            <a:extLst>
              <a:ext uri="{FF2B5EF4-FFF2-40B4-BE49-F238E27FC236}">
                <a16:creationId xmlns:a16="http://schemas.microsoft.com/office/drawing/2014/main" id="{C9F95424-8F2A-19AF-3B80-B09ADE508964}"/>
              </a:ext>
            </a:extLst>
          </p:cNvPr>
          <p:cNvSpPr txBox="1">
            <a:spLocks/>
          </p:cNvSpPr>
          <p:nvPr/>
        </p:nvSpPr>
        <p:spPr>
          <a:xfrm>
            <a:off x="10630271" y="6276439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CF94CE6-4B3E-4E76-B420-26BBDCBE82E0}" type="slidenum">
              <a:rPr lang="en-US" sz="6600" smtClean="0">
                <a:solidFill>
                  <a:schemeClr val="bg1"/>
                </a:solidFill>
              </a:rPr>
              <a:pPr/>
              <a:t>2</a:t>
            </a:fld>
            <a:endParaRPr lang="en-US" sz="6600">
              <a:solidFill>
                <a:schemeClr val="bg1"/>
              </a:solidFill>
            </a:endParaRPr>
          </a:p>
        </p:txBody>
      </p:sp>
      <p:pic>
        <p:nvPicPr>
          <p:cNvPr id="1026" name="Picture 2" descr="A black object with a blue strap&#10;&#10;Description automatically generated">
            <a:extLst>
              <a:ext uri="{FF2B5EF4-FFF2-40B4-BE49-F238E27FC236}">
                <a16:creationId xmlns:a16="http://schemas.microsoft.com/office/drawing/2014/main" id="{D0D720C1-081D-4254-3315-212606ED3E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1735" y="3815806"/>
            <a:ext cx="1807747" cy="182642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0" name="Group 12">
            <a:extLst>
              <a:ext uri="{FF2B5EF4-FFF2-40B4-BE49-F238E27FC236}">
                <a16:creationId xmlns:a16="http://schemas.microsoft.com/office/drawing/2014/main" id="{4ECA9DD4-3359-F65C-EA39-F1E63193B75A}"/>
              </a:ext>
            </a:extLst>
          </p:cNvPr>
          <p:cNvGrpSpPr>
            <a:grpSpLocks noChangeAspect="1"/>
          </p:cNvGrpSpPr>
          <p:nvPr/>
        </p:nvGrpSpPr>
        <p:grpSpPr>
          <a:xfrm>
            <a:off x="3896345" y="3764643"/>
            <a:ext cx="2037021" cy="1985562"/>
            <a:chOff x="-366471" y="-11891"/>
            <a:chExt cx="15572971" cy="14863810"/>
          </a:xfrm>
        </p:grpSpPr>
        <p:sp>
          <p:nvSpPr>
            <p:cNvPr id="31" name="Freeform 13">
              <a:extLst>
                <a:ext uri="{FF2B5EF4-FFF2-40B4-BE49-F238E27FC236}">
                  <a16:creationId xmlns:a16="http://schemas.microsoft.com/office/drawing/2014/main" id="{76CDEBBD-FF49-95A9-4F79-0BAF4856FAA0}"/>
                </a:ext>
              </a:extLst>
            </p:cNvPr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" name="Freeform 14">
              <a:extLst>
                <a:ext uri="{FF2B5EF4-FFF2-40B4-BE49-F238E27FC236}">
                  <a16:creationId xmlns:a16="http://schemas.microsoft.com/office/drawing/2014/main" id="{F74EE9BE-63A3-0D06-3512-68D00FCC482D}"/>
                </a:ext>
              </a:extLst>
            </p:cNvPr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00FFFF"/>
            </a:solid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33" name="Group 12">
            <a:extLst>
              <a:ext uri="{FF2B5EF4-FFF2-40B4-BE49-F238E27FC236}">
                <a16:creationId xmlns:a16="http://schemas.microsoft.com/office/drawing/2014/main" id="{2FE8BEDB-B988-8067-CE8C-8E23243CE74F}"/>
              </a:ext>
            </a:extLst>
          </p:cNvPr>
          <p:cNvGrpSpPr>
            <a:grpSpLocks noChangeAspect="1"/>
          </p:cNvGrpSpPr>
          <p:nvPr/>
        </p:nvGrpSpPr>
        <p:grpSpPr>
          <a:xfrm>
            <a:off x="6576687" y="3824019"/>
            <a:ext cx="2037021" cy="1985562"/>
            <a:chOff x="-366471" y="-11891"/>
            <a:chExt cx="15572971" cy="14863810"/>
          </a:xfrm>
        </p:grpSpPr>
        <p:sp>
          <p:nvSpPr>
            <p:cNvPr id="34" name="Freeform 13">
              <a:extLst>
                <a:ext uri="{FF2B5EF4-FFF2-40B4-BE49-F238E27FC236}">
                  <a16:creationId xmlns:a16="http://schemas.microsoft.com/office/drawing/2014/main" id="{F5F22382-5AD3-5E43-87CF-BABF4495FECE}"/>
                </a:ext>
              </a:extLst>
            </p:cNvPr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" name="Freeform 14">
              <a:extLst>
                <a:ext uri="{FF2B5EF4-FFF2-40B4-BE49-F238E27FC236}">
                  <a16:creationId xmlns:a16="http://schemas.microsoft.com/office/drawing/2014/main" id="{4F25C494-06F5-75C5-11E8-4160FC623C3B}"/>
                </a:ext>
              </a:extLst>
            </p:cNvPr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00FFFF"/>
            </a:solid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36" name="Group 12">
            <a:extLst>
              <a:ext uri="{FF2B5EF4-FFF2-40B4-BE49-F238E27FC236}">
                <a16:creationId xmlns:a16="http://schemas.microsoft.com/office/drawing/2014/main" id="{398FE42D-09AA-0180-70AF-A58764880E38}"/>
              </a:ext>
            </a:extLst>
          </p:cNvPr>
          <p:cNvGrpSpPr>
            <a:grpSpLocks noChangeAspect="1"/>
          </p:cNvGrpSpPr>
          <p:nvPr/>
        </p:nvGrpSpPr>
        <p:grpSpPr>
          <a:xfrm>
            <a:off x="9173192" y="3815806"/>
            <a:ext cx="2037021" cy="1985562"/>
            <a:chOff x="-366471" y="-11891"/>
            <a:chExt cx="15572971" cy="14863810"/>
          </a:xfrm>
        </p:grpSpPr>
        <p:sp>
          <p:nvSpPr>
            <p:cNvPr id="37" name="Freeform 13">
              <a:extLst>
                <a:ext uri="{FF2B5EF4-FFF2-40B4-BE49-F238E27FC236}">
                  <a16:creationId xmlns:a16="http://schemas.microsoft.com/office/drawing/2014/main" id="{4E4E7E05-9835-5C73-AF40-DA195D3DD9A8}"/>
                </a:ext>
              </a:extLst>
            </p:cNvPr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" name="Freeform 14">
              <a:extLst>
                <a:ext uri="{FF2B5EF4-FFF2-40B4-BE49-F238E27FC236}">
                  <a16:creationId xmlns:a16="http://schemas.microsoft.com/office/drawing/2014/main" id="{D0B95E6C-9DF3-88AB-126F-6D57A7FE2F2B}"/>
                </a:ext>
              </a:extLst>
            </p:cNvPr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00FFFF"/>
            </a:solidFill>
          </p:spPr>
          <p:txBody>
            <a:bodyPr/>
            <a:lstStyle/>
            <a:p>
              <a:pPr defTabSz="609630"/>
              <a:endParaRPr lang="en-US" sz="1200">
                <a:solidFill>
                  <a:prstClr val="black"/>
                </a:solidFill>
                <a:latin typeface="Calibri"/>
              </a:endParaRPr>
            </a:p>
          </p:txBody>
        </p:sp>
      </p:grpSp>
      <p:pic>
        <p:nvPicPr>
          <p:cNvPr id="40" name="Picture 39">
            <a:extLst>
              <a:ext uri="{FF2B5EF4-FFF2-40B4-BE49-F238E27FC236}">
                <a16:creationId xmlns:a16="http://schemas.microsoft.com/office/drawing/2014/main" id="{DDDA2495-2186-1BA8-E391-CFE8E29F87C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30303" y="3845076"/>
            <a:ext cx="1780016" cy="182642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42" name="Picture 41" descr="A black and blue fence&#10;&#10;Description automatically generated">
            <a:extLst>
              <a:ext uri="{FF2B5EF4-FFF2-40B4-BE49-F238E27FC236}">
                <a16:creationId xmlns:a16="http://schemas.microsoft.com/office/drawing/2014/main" id="{ADCE77F6-3D9F-8E47-E026-7AEEA9B52B6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6189" y="3891046"/>
            <a:ext cx="1802021" cy="185150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6DA94F15-271A-9363-D4DF-1D95537CC823}"/>
              </a:ext>
            </a:extLst>
          </p:cNvPr>
          <p:cNvSpPr txBox="1"/>
          <p:nvPr/>
        </p:nvSpPr>
        <p:spPr>
          <a:xfrm>
            <a:off x="1330813" y="5694970"/>
            <a:ext cx="1780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Prototyping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98AB3D2-0E6F-260F-BA6B-7F80C20223AE}"/>
              </a:ext>
            </a:extLst>
          </p:cNvPr>
          <p:cNvSpPr txBox="1"/>
          <p:nvPr/>
        </p:nvSpPr>
        <p:spPr>
          <a:xfrm>
            <a:off x="4030303" y="5771891"/>
            <a:ext cx="22472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Sensor Design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EC18C6B-1101-B68B-3EA4-BB6E8FEF8497}"/>
              </a:ext>
            </a:extLst>
          </p:cNvPr>
          <p:cNvSpPr txBox="1"/>
          <p:nvPr/>
        </p:nvSpPr>
        <p:spPr>
          <a:xfrm>
            <a:off x="7334963" y="5822987"/>
            <a:ext cx="14665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ROM 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E9DE911-13C1-E0A6-8DAF-2ECDA9FC38E3}"/>
              </a:ext>
            </a:extLst>
          </p:cNvPr>
          <p:cNvSpPr txBox="1"/>
          <p:nvPr/>
        </p:nvSpPr>
        <p:spPr>
          <a:xfrm>
            <a:off x="9240277" y="5809022"/>
            <a:ext cx="22659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Analog &amp; Digital </a:t>
            </a:r>
          </a:p>
        </p:txBody>
      </p:sp>
      <p:pic>
        <p:nvPicPr>
          <p:cNvPr id="47" name="Picture 46" descr="A diagram of a machine&#10;&#10;Description automatically generated">
            <a:extLst>
              <a:ext uri="{FF2B5EF4-FFF2-40B4-BE49-F238E27FC236}">
                <a16:creationId xmlns:a16="http://schemas.microsoft.com/office/drawing/2014/main" id="{B1623565-3F64-B0F8-4BE8-60134B3B50B2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52943"/>
          <a:stretch/>
        </p:blipFill>
        <p:spPr>
          <a:xfrm>
            <a:off x="9257029" y="3850451"/>
            <a:ext cx="1902850" cy="190402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25" name="TextBox 1024">
            <a:extLst>
              <a:ext uri="{FF2B5EF4-FFF2-40B4-BE49-F238E27FC236}">
                <a16:creationId xmlns:a16="http://schemas.microsoft.com/office/drawing/2014/main" id="{AA6CD3BA-26EC-D66B-07A4-CF51B5163375}"/>
              </a:ext>
            </a:extLst>
          </p:cNvPr>
          <p:cNvSpPr txBox="1"/>
          <p:nvPr/>
        </p:nvSpPr>
        <p:spPr>
          <a:xfrm>
            <a:off x="4305555" y="6275230"/>
            <a:ext cx="3946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Technical Tasks in pipeline</a:t>
            </a:r>
          </a:p>
        </p:txBody>
      </p:sp>
      <p:sp>
        <p:nvSpPr>
          <p:cNvPr id="1027" name="Freeform 7">
            <a:extLst>
              <a:ext uri="{FF2B5EF4-FFF2-40B4-BE49-F238E27FC236}">
                <a16:creationId xmlns:a16="http://schemas.microsoft.com/office/drawing/2014/main" id="{2EF1A102-50AA-0A03-1E2F-1849DFD84517}"/>
              </a:ext>
            </a:extLst>
          </p:cNvPr>
          <p:cNvSpPr/>
          <p:nvPr/>
        </p:nvSpPr>
        <p:spPr>
          <a:xfrm>
            <a:off x="2293529" y="2111986"/>
            <a:ext cx="2381988" cy="1588904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28" name="Freeform 7">
            <a:extLst>
              <a:ext uri="{FF2B5EF4-FFF2-40B4-BE49-F238E27FC236}">
                <a16:creationId xmlns:a16="http://schemas.microsoft.com/office/drawing/2014/main" id="{6F55B110-7CCB-66AC-FA67-9EC7117E410F}"/>
              </a:ext>
            </a:extLst>
          </p:cNvPr>
          <p:cNvSpPr/>
          <p:nvPr/>
        </p:nvSpPr>
        <p:spPr>
          <a:xfrm>
            <a:off x="7334963" y="2037287"/>
            <a:ext cx="2563508" cy="1596855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29" name="TextBox 1028">
            <a:extLst>
              <a:ext uri="{FF2B5EF4-FFF2-40B4-BE49-F238E27FC236}">
                <a16:creationId xmlns:a16="http://schemas.microsoft.com/office/drawing/2014/main" id="{6111E12C-86AD-4F94-E156-48F22099905D}"/>
              </a:ext>
            </a:extLst>
          </p:cNvPr>
          <p:cNvSpPr txBox="1"/>
          <p:nvPr/>
        </p:nvSpPr>
        <p:spPr>
          <a:xfrm>
            <a:off x="2538873" y="2318319"/>
            <a:ext cx="20434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Individuals</a:t>
            </a:r>
          </a:p>
          <a:p>
            <a:pPr marL="285750" indent="-285750">
              <a:buFontTx/>
              <a:buChar char="-"/>
            </a:pPr>
            <a:r>
              <a:rPr lang="en-US">
                <a:solidFill>
                  <a:schemeClr val="bg1"/>
                </a:solidFill>
              </a:rPr>
              <a:t>Elderly/Patients</a:t>
            </a:r>
          </a:p>
          <a:p>
            <a:pPr marL="285750" indent="-285750">
              <a:buFontTx/>
              <a:buChar char="-"/>
            </a:pPr>
            <a:r>
              <a:rPr lang="en-US">
                <a:solidFill>
                  <a:schemeClr val="bg1"/>
                </a:solidFill>
              </a:rPr>
              <a:t>Athletes</a:t>
            </a:r>
          </a:p>
          <a:p>
            <a:pPr marL="285750" indent="-285750">
              <a:buFontTx/>
              <a:buChar char="-"/>
            </a:pPr>
            <a:r>
              <a:rPr lang="en-US">
                <a:solidFill>
                  <a:schemeClr val="bg1"/>
                </a:solidFill>
              </a:rPr>
              <a:t>Neuro-patients</a:t>
            </a:r>
          </a:p>
        </p:txBody>
      </p:sp>
      <p:sp>
        <p:nvSpPr>
          <p:cNvPr id="1030" name="TextBox 1029">
            <a:extLst>
              <a:ext uri="{FF2B5EF4-FFF2-40B4-BE49-F238E27FC236}">
                <a16:creationId xmlns:a16="http://schemas.microsoft.com/office/drawing/2014/main" id="{729CA82D-224B-F229-85D1-342BF2A8CE05}"/>
              </a:ext>
            </a:extLst>
          </p:cNvPr>
          <p:cNvSpPr txBox="1"/>
          <p:nvPr/>
        </p:nvSpPr>
        <p:spPr>
          <a:xfrm>
            <a:off x="7689967" y="2191065"/>
            <a:ext cx="20434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Businesses</a:t>
            </a:r>
          </a:p>
          <a:p>
            <a:pPr marL="285750" indent="-285750">
              <a:buFontTx/>
              <a:buChar char="-"/>
            </a:pPr>
            <a:r>
              <a:rPr lang="en-US">
                <a:solidFill>
                  <a:schemeClr val="bg1"/>
                </a:solidFill>
              </a:rPr>
              <a:t>Rehab Centers</a:t>
            </a:r>
          </a:p>
          <a:p>
            <a:pPr marL="285750" indent="-285750">
              <a:buFontTx/>
              <a:buChar char="-"/>
            </a:pPr>
            <a:r>
              <a:rPr lang="en-US">
                <a:solidFill>
                  <a:schemeClr val="bg1"/>
                </a:solidFill>
              </a:rPr>
              <a:t>Healthcare-C</a:t>
            </a:r>
          </a:p>
          <a:p>
            <a:pPr marL="285750" indent="-285750">
              <a:buFontTx/>
              <a:buChar char="-"/>
            </a:pPr>
            <a:r>
              <a:rPr lang="en-US">
                <a:solidFill>
                  <a:schemeClr val="bg1"/>
                </a:solidFill>
              </a:rPr>
              <a:t>Clinics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43" grpId="0"/>
      <p:bldP spid="44" grpId="0"/>
      <p:bldP spid="45" grpId="0"/>
      <p:bldP spid="46" grpId="0"/>
      <p:bldP spid="1025" grpId="0"/>
      <p:bldP spid="1027" grpId="0" animBg="1"/>
      <p:bldP spid="1028" grpId="0" animBg="1"/>
      <p:bldP spid="1029" grpId="0"/>
      <p:bldP spid="103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019113" y="700410"/>
            <a:ext cx="367609" cy="345553"/>
          </a:xfrm>
          <a:custGeom>
            <a:avLst/>
            <a:gdLst/>
            <a:ahLst/>
            <a:cxnLst/>
            <a:rect l="l" t="t" r="r" b="b"/>
            <a:pathLst>
              <a:path w="551414" h="518330">
                <a:moveTo>
                  <a:pt x="0" y="0"/>
                </a:moveTo>
                <a:lnTo>
                  <a:pt x="551414" y="0"/>
                </a:lnTo>
                <a:lnTo>
                  <a:pt x="551414" y="518330"/>
                </a:lnTo>
                <a:lnTo>
                  <a:pt x="0" y="518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0946461" y="723075"/>
            <a:ext cx="559739" cy="300224"/>
          </a:xfrm>
          <a:custGeom>
            <a:avLst/>
            <a:gdLst/>
            <a:ahLst/>
            <a:cxnLst/>
            <a:rect l="l" t="t" r="r" b="b"/>
            <a:pathLst>
              <a:path w="839609" h="450336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0386723" y="723075"/>
            <a:ext cx="559739" cy="300224"/>
          </a:xfrm>
          <a:custGeom>
            <a:avLst/>
            <a:gdLst/>
            <a:ahLst/>
            <a:cxnLst/>
            <a:rect l="l" t="t" r="r" b="b"/>
            <a:pathLst>
              <a:path w="839609" h="450336">
                <a:moveTo>
                  <a:pt x="0" y="0"/>
                </a:moveTo>
                <a:lnTo>
                  <a:pt x="839608" y="0"/>
                </a:lnTo>
                <a:lnTo>
                  <a:pt x="839608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69854" y="6499865"/>
            <a:ext cx="1819325" cy="325045"/>
          </a:xfrm>
          <a:custGeom>
            <a:avLst/>
            <a:gdLst/>
            <a:ahLst/>
            <a:cxnLst/>
            <a:rect l="l" t="t" r="r" b="b"/>
            <a:pathLst>
              <a:path w="2728988" h="487567">
                <a:moveTo>
                  <a:pt x="0" y="0"/>
                </a:moveTo>
                <a:lnTo>
                  <a:pt x="2728988" y="0"/>
                </a:lnTo>
                <a:lnTo>
                  <a:pt x="2728988" y="487566"/>
                </a:lnTo>
                <a:lnTo>
                  <a:pt x="0" y="4875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Freeform 7"/>
          <p:cNvSpPr/>
          <p:nvPr/>
        </p:nvSpPr>
        <p:spPr>
          <a:xfrm rot="16200000">
            <a:off x="8307990" y="252641"/>
            <a:ext cx="2905674" cy="4500713"/>
          </a:xfrm>
          <a:custGeom>
            <a:avLst/>
            <a:gdLst/>
            <a:ahLst/>
            <a:cxnLst/>
            <a:rect l="l" t="t" r="r" b="b"/>
            <a:pathLst>
              <a:path w="3598971" h="5754169">
                <a:moveTo>
                  <a:pt x="0" y="0"/>
                </a:moveTo>
                <a:lnTo>
                  <a:pt x="3598971" y="0"/>
                </a:lnTo>
                <a:lnTo>
                  <a:pt x="3598971" y="5754169"/>
                </a:lnTo>
                <a:lnTo>
                  <a:pt x="0" y="575416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80198" y="324446"/>
            <a:ext cx="5422847" cy="548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4587"/>
              </a:lnSpc>
            </a:pPr>
            <a:r>
              <a:rPr lang="en-US" sz="364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PROGESS AT AALTO -</a:t>
            </a:r>
          </a:p>
        </p:txBody>
      </p:sp>
      <p:pic>
        <p:nvPicPr>
          <p:cNvPr id="17" name="Picture 16" descr="A person standing in front of a screen&#10;&#10;Description automatically generated">
            <a:extLst>
              <a:ext uri="{FF2B5EF4-FFF2-40B4-BE49-F238E27FC236}">
                <a16:creationId xmlns:a16="http://schemas.microsoft.com/office/drawing/2014/main" id="{7F4CFAB3-8837-474F-A7F3-D928C735011D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10918" r="3" b="9690"/>
          <a:stretch/>
        </p:blipFill>
        <p:spPr>
          <a:xfrm>
            <a:off x="7318695" y="3955835"/>
            <a:ext cx="3300249" cy="286907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F4238976-2C9A-44D6-7AFC-B90FC7E94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0220" y="6244373"/>
            <a:ext cx="1312025" cy="365125"/>
          </a:xfrm>
        </p:spPr>
        <p:txBody>
          <a:bodyPr/>
          <a:lstStyle/>
          <a:p>
            <a:fld id="{2CF94CE6-4B3E-4E76-B420-26BBDCBE82E0}" type="slidenum">
              <a:rPr lang="en-US" sz="6600">
                <a:solidFill>
                  <a:schemeClr val="bg1"/>
                </a:solidFill>
              </a:rPr>
              <a:t>3</a:t>
            </a:fld>
            <a:endParaRPr lang="en-US" sz="6600">
              <a:solidFill>
                <a:schemeClr val="bg1"/>
              </a:solidFill>
            </a:endParaRPr>
          </a:p>
        </p:txBody>
      </p:sp>
      <p:pic>
        <p:nvPicPr>
          <p:cNvPr id="20" name="Picture 19" descr="A computer graphics of a computer printer&#10;&#10;Description automatically generated">
            <a:extLst>
              <a:ext uri="{FF2B5EF4-FFF2-40B4-BE49-F238E27FC236}">
                <a16:creationId xmlns:a16="http://schemas.microsoft.com/office/drawing/2014/main" id="{827BFD00-973D-0D88-3876-BEF74A08AD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923" y="1350650"/>
            <a:ext cx="4500716" cy="2402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 descr="A black box on a white surface&#10;&#10;Description automatically generated">
            <a:extLst>
              <a:ext uri="{FF2B5EF4-FFF2-40B4-BE49-F238E27FC236}">
                <a16:creationId xmlns:a16="http://schemas.microsoft.com/office/drawing/2014/main" id="{BEF03C6D-4315-E540-9C85-26CAB24D9EB8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7138" y="4238790"/>
            <a:ext cx="2133599" cy="1713314"/>
          </a:xfrm>
          <a:prstGeom prst="rect">
            <a:avLst/>
          </a:prstGeom>
        </p:spPr>
      </p:pic>
      <p:pic>
        <p:nvPicPr>
          <p:cNvPr id="22" name="Picture 21" descr="A black object with a blue strap on a white surface&#10;&#10;Description automatically generated">
            <a:extLst>
              <a:ext uri="{FF2B5EF4-FFF2-40B4-BE49-F238E27FC236}">
                <a16:creationId xmlns:a16="http://schemas.microsoft.com/office/drawing/2014/main" id="{C30418FB-C12D-3612-D393-D3C801A4EF6D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698" y="4250750"/>
            <a:ext cx="2231923" cy="167394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89EDA0D-8FF1-4800-339C-1BA1BCBA54AA}"/>
              </a:ext>
            </a:extLst>
          </p:cNvPr>
          <p:cNvSpPr txBox="1"/>
          <p:nvPr/>
        </p:nvSpPr>
        <p:spPr>
          <a:xfrm>
            <a:off x="5535713" y="386156"/>
            <a:ext cx="44329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bg1"/>
                </a:solidFill>
              </a:rPr>
              <a:t>Aalto: User Centric Approach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408C52-004E-1595-AD3C-27EC1A4F4A4E}"/>
              </a:ext>
            </a:extLst>
          </p:cNvPr>
          <p:cNvSpPr txBox="1"/>
          <p:nvPr/>
        </p:nvSpPr>
        <p:spPr>
          <a:xfrm>
            <a:off x="1686616" y="3712911"/>
            <a:ext cx="3673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bg1"/>
                </a:solidFill>
              </a:rPr>
              <a:t>CAD Model - SolidWorks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1631B8-ADBA-5229-99F8-D305C1A03C7F}"/>
              </a:ext>
            </a:extLst>
          </p:cNvPr>
          <p:cNvSpPr txBox="1"/>
          <p:nvPr/>
        </p:nvSpPr>
        <p:spPr>
          <a:xfrm>
            <a:off x="1276125" y="5952104"/>
            <a:ext cx="42623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bg1"/>
                </a:solidFill>
              </a:rPr>
              <a:t>3D Printing/Rapid Prototyping - PLA</a:t>
            </a:r>
          </a:p>
        </p:txBody>
      </p:sp>
      <p:pic>
        <p:nvPicPr>
          <p:cNvPr id="26" name="Picture 25" descr="A screenshot of a computer&#10;&#10;Description automatically generated">
            <a:extLst>
              <a:ext uri="{FF2B5EF4-FFF2-40B4-BE49-F238E27FC236}">
                <a16:creationId xmlns:a16="http://schemas.microsoft.com/office/drawing/2014/main" id="{0D5533C7-9022-7364-A050-AC2E1E4805C6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16871" b="15595"/>
          <a:stretch/>
        </p:blipFill>
        <p:spPr>
          <a:xfrm>
            <a:off x="7855674" y="1143000"/>
            <a:ext cx="3884877" cy="257422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8FFA9E3-333E-58EA-D05B-A2A6A76F0DE9}"/>
              </a:ext>
            </a:extLst>
          </p:cNvPr>
          <p:cNvCxnSpPr>
            <a:cxnSpLocks/>
          </p:cNvCxnSpPr>
          <p:nvPr/>
        </p:nvCxnSpPr>
        <p:spPr>
          <a:xfrm>
            <a:off x="6419992" y="1214483"/>
            <a:ext cx="38469" cy="5078025"/>
          </a:xfrm>
          <a:prstGeom prst="line">
            <a:avLst/>
          </a:prstGeom>
          <a:ln w="57150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10242" name="Picture 2" descr="SolidWorks - Drexel Engineering Computing and Technical Services">
            <a:extLst>
              <a:ext uri="{FF2B5EF4-FFF2-40B4-BE49-F238E27FC236}">
                <a16:creationId xmlns:a16="http://schemas.microsoft.com/office/drawing/2014/main" id="{46FC83BC-3EC8-885C-F1A2-776C9D425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14" y="1394861"/>
            <a:ext cx="992254" cy="839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Arduino IOT Cloud With ESP32 - Arduino Project Hub">
            <a:extLst>
              <a:ext uri="{FF2B5EF4-FFF2-40B4-BE49-F238E27FC236}">
                <a16:creationId xmlns:a16="http://schemas.microsoft.com/office/drawing/2014/main" id="{EF201ABF-C4BD-CE65-C29F-3759398E21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8461" y="1143000"/>
            <a:ext cx="1205437" cy="829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Arrow: Right 33">
            <a:extLst>
              <a:ext uri="{FF2B5EF4-FFF2-40B4-BE49-F238E27FC236}">
                <a16:creationId xmlns:a16="http://schemas.microsoft.com/office/drawing/2014/main" id="{AAB8CA52-45C1-D779-9E1B-6A0EE7EA228B}"/>
              </a:ext>
            </a:extLst>
          </p:cNvPr>
          <p:cNvSpPr/>
          <p:nvPr/>
        </p:nvSpPr>
        <p:spPr>
          <a:xfrm rot="8463401">
            <a:off x="8519945" y="5167086"/>
            <a:ext cx="897749" cy="352564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E6DAC288-BFCE-00E1-D992-89C15ED242B2}"/>
              </a:ext>
            </a:extLst>
          </p:cNvPr>
          <p:cNvSpPr/>
          <p:nvPr/>
        </p:nvSpPr>
        <p:spPr>
          <a:xfrm rot="7075125">
            <a:off x="9256818" y="5522098"/>
            <a:ext cx="785936" cy="352564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3" grpId="0"/>
      <p:bldP spid="24" grpId="0"/>
      <p:bldP spid="25" grpId="0"/>
      <p:bldP spid="34" grpId="0" animBg="1"/>
      <p:bldP spid="3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019113" y="700410"/>
            <a:ext cx="367609" cy="345553"/>
          </a:xfrm>
          <a:custGeom>
            <a:avLst/>
            <a:gdLst/>
            <a:ahLst/>
            <a:cxnLst/>
            <a:rect l="l" t="t" r="r" b="b"/>
            <a:pathLst>
              <a:path w="551414" h="518330">
                <a:moveTo>
                  <a:pt x="0" y="0"/>
                </a:moveTo>
                <a:lnTo>
                  <a:pt x="551414" y="0"/>
                </a:lnTo>
                <a:lnTo>
                  <a:pt x="551414" y="518330"/>
                </a:lnTo>
                <a:lnTo>
                  <a:pt x="0" y="5183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0946461" y="723075"/>
            <a:ext cx="559739" cy="300224"/>
          </a:xfrm>
          <a:custGeom>
            <a:avLst/>
            <a:gdLst/>
            <a:ahLst/>
            <a:cxnLst/>
            <a:rect l="l" t="t" r="r" b="b"/>
            <a:pathLst>
              <a:path w="839609" h="450336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0386723" y="723075"/>
            <a:ext cx="559739" cy="300224"/>
          </a:xfrm>
          <a:custGeom>
            <a:avLst/>
            <a:gdLst/>
            <a:ahLst/>
            <a:cxnLst/>
            <a:rect l="l" t="t" r="r" b="b"/>
            <a:pathLst>
              <a:path w="839609" h="450336">
                <a:moveTo>
                  <a:pt x="0" y="0"/>
                </a:moveTo>
                <a:lnTo>
                  <a:pt x="839608" y="0"/>
                </a:lnTo>
                <a:lnTo>
                  <a:pt x="839608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69854" y="6499865"/>
            <a:ext cx="1819325" cy="325045"/>
          </a:xfrm>
          <a:custGeom>
            <a:avLst/>
            <a:gdLst/>
            <a:ahLst/>
            <a:cxnLst/>
            <a:rect l="l" t="t" r="r" b="b"/>
            <a:pathLst>
              <a:path w="2728988" h="487567">
                <a:moveTo>
                  <a:pt x="0" y="0"/>
                </a:moveTo>
                <a:lnTo>
                  <a:pt x="2728988" y="0"/>
                </a:lnTo>
                <a:lnTo>
                  <a:pt x="2728988" y="487566"/>
                </a:lnTo>
                <a:lnTo>
                  <a:pt x="0" y="4875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80198" y="324446"/>
            <a:ext cx="5422847" cy="548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458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4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K Modular"/>
                <a:ea typeface="HK Modular"/>
                <a:cs typeface="HK Modular"/>
                <a:sym typeface="HK Modular"/>
              </a:rPr>
              <a:t>PROGESS AT USN -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F4238976-2C9A-44D6-7AFC-B90FC7E94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70317" y="6265718"/>
            <a:ext cx="1312025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F94CE6-4B3E-4E76-B420-26BBDCBE82E0}" type="slidenum">
              <a:rPr lang="en-US" sz="6600">
                <a:solidFill>
                  <a:schemeClr val="bg1"/>
                </a:solidFill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lang="en-US" sz="660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89EDA0D-8FF1-4800-339C-1BA1BCBA54AA}"/>
              </a:ext>
            </a:extLst>
          </p:cNvPr>
          <p:cNvSpPr txBox="1"/>
          <p:nvPr/>
        </p:nvSpPr>
        <p:spPr>
          <a:xfrm>
            <a:off x="5026469" y="394736"/>
            <a:ext cx="44329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Modeling</a:t>
            </a:r>
            <a:r>
              <a:rPr kumimoji="0" lang="en-US" sz="2400" b="1" i="0" u="none" strike="noStrike" kern="1200" cap="none" spc="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Centric Approach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9C46654-75EB-5961-7DC0-978D70BF628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73472" y="1397986"/>
            <a:ext cx="4732728" cy="1882384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20963D2-A366-FFBB-EF81-74F9C14F3F72}"/>
              </a:ext>
            </a:extLst>
          </p:cNvPr>
          <p:cNvGrpSpPr/>
          <p:nvPr/>
        </p:nvGrpSpPr>
        <p:grpSpPr>
          <a:xfrm>
            <a:off x="724614" y="1397986"/>
            <a:ext cx="5278431" cy="4320457"/>
            <a:chOff x="244929" y="1434384"/>
            <a:chExt cx="6155871" cy="487326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892F0AE-ECE8-C2CB-920D-952CF2FA90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44929" y="1434384"/>
              <a:ext cx="6155871" cy="4860425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0E1D239-9800-883A-1834-1BE0A25DC11D}"/>
                </a:ext>
              </a:extLst>
            </p:cNvPr>
            <p:cNvSpPr txBox="1"/>
            <p:nvPr/>
          </p:nvSpPr>
          <p:spPr>
            <a:xfrm>
              <a:off x="3519948" y="5938316"/>
              <a:ext cx="24285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*dimensions in µm</a:t>
              </a:r>
            </a:p>
          </p:txBody>
        </p:sp>
      </p:grpSp>
      <p:pic>
        <p:nvPicPr>
          <p:cNvPr id="2050" name="Picture 2" descr="A diagram of a circuit&#10;&#10;Description automatically generated">
            <a:extLst>
              <a:ext uri="{FF2B5EF4-FFF2-40B4-BE49-F238E27FC236}">
                <a16:creationId xmlns:a16="http://schemas.microsoft.com/office/drawing/2014/main" id="{DD8A8B2F-06D5-AB46-C694-EAC9B99AE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5076" y="3848998"/>
            <a:ext cx="4600959" cy="2055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A27BFCE-A2C1-FF6D-0113-19C36585659C}"/>
              </a:ext>
            </a:extLst>
          </p:cNvPr>
          <p:cNvSpPr txBox="1"/>
          <p:nvPr/>
        </p:nvSpPr>
        <p:spPr>
          <a:xfrm>
            <a:off x="1585091" y="5922228"/>
            <a:ext cx="3673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bg1"/>
                </a:solidFill>
              </a:rPr>
              <a:t>Sensor Design - COMSOL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641680-0DA3-42E7-3FCA-DCBCCC3CC572}"/>
              </a:ext>
            </a:extLst>
          </p:cNvPr>
          <p:cNvSpPr txBox="1"/>
          <p:nvPr/>
        </p:nvSpPr>
        <p:spPr>
          <a:xfrm>
            <a:off x="8450476" y="3297589"/>
            <a:ext cx="31372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bg1"/>
                </a:solidFill>
              </a:rPr>
              <a:t>Modifications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B127440-80A5-66B8-2F02-93330FECC804}"/>
              </a:ext>
            </a:extLst>
          </p:cNvPr>
          <p:cNvSpPr txBox="1"/>
          <p:nvPr/>
        </p:nvSpPr>
        <p:spPr>
          <a:xfrm>
            <a:off x="7995621" y="5943367"/>
            <a:ext cx="3673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bg1"/>
                </a:solidFill>
              </a:rPr>
              <a:t>Lumped Modeling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7D3A298-7329-E304-31E3-3D10D53B3C0E}"/>
              </a:ext>
            </a:extLst>
          </p:cNvPr>
          <p:cNvCxnSpPr>
            <a:cxnSpLocks/>
          </p:cNvCxnSpPr>
          <p:nvPr/>
        </p:nvCxnSpPr>
        <p:spPr>
          <a:xfrm>
            <a:off x="6419992" y="1214483"/>
            <a:ext cx="38469" cy="5078025"/>
          </a:xfrm>
          <a:prstGeom prst="line">
            <a:avLst/>
          </a:prstGeom>
          <a:ln w="57150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2053" name="Picture 5" descr="What is COMSOL MULTIPHYSICS and its capabilities?">
            <a:extLst>
              <a:ext uri="{FF2B5EF4-FFF2-40B4-BE49-F238E27FC236}">
                <a16:creationId xmlns:a16="http://schemas.microsoft.com/office/drawing/2014/main" id="{5D81BC32-1B1C-992F-627D-F28A3506FF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6269" y="5882849"/>
            <a:ext cx="1391341" cy="716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5" name="Picture 7" descr="LTspice Download (2020 Latest) Free For Windows 10/8/7 | Download">
            <a:extLst>
              <a:ext uri="{FF2B5EF4-FFF2-40B4-BE49-F238E27FC236}">
                <a16:creationId xmlns:a16="http://schemas.microsoft.com/office/drawing/2014/main" id="{07F9D87A-C31A-E176-276A-A6581EFFFC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2596" y="5957534"/>
            <a:ext cx="1052146" cy="610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3572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16" grpId="0"/>
      <p:bldP spid="19" grpId="0"/>
      <p:bldP spid="2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019113" y="700410"/>
            <a:ext cx="367609" cy="345553"/>
          </a:xfrm>
          <a:custGeom>
            <a:avLst/>
            <a:gdLst/>
            <a:ahLst/>
            <a:cxnLst/>
            <a:rect l="l" t="t" r="r" b="b"/>
            <a:pathLst>
              <a:path w="551414" h="518330">
                <a:moveTo>
                  <a:pt x="0" y="0"/>
                </a:moveTo>
                <a:lnTo>
                  <a:pt x="551414" y="0"/>
                </a:lnTo>
                <a:lnTo>
                  <a:pt x="551414" y="518330"/>
                </a:lnTo>
                <a:lnTo>
                  <a:pt x="0" y="5183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0946461" y="723075"/>
            <a:ext cx="559739" cy="300224"/>
          </a:xfrm>
          <a:custGeom>
            <a:avLst/>
            <a:gdLst/>
            <a:ahLst/>
            <a:cxnLst/>
            <a:rect l="l" t="t" r="r" b="b"/>
            <a:pathLst>
              <a:path w="839609" h="450336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0386723" y="723075"/>
            <a:ext cx="559739" cy="300224"/>
          </a:xfrm>
          <a:custGeom>
            <a:avLst/>
            <a:gdLst/>
            <a:ahLst/>
            <a:cxnLst/>
            <a:rect l="l" t="t" r="r" b="b"/>
            <a:pathLst>
              <a:path w="839609" h="450336">
                <a:moveTo>
                  <a:pt x="0" y="0"/>
                </a:moveTo>
                <a:lnTo>
                  <a:pt x="839608" y="0"/>
                </a:lnTo>
                <a:lnTo>
                  <a:pt x="839608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80198" y="324446"/>
            <a:ext cx="5422847" cy="548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458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4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K Modular"/>
                <a:ea typeface="HK Modular"/>
                <a:cs typeface="HK Modular"/>
                <a:sym typeface="HK Modular"/>
              </a:rPr>
              <a:t>PROGESS AT BME -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F4238976-2C9A-44D6-7AFC-B90FC7E94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07492" y="6236539"/>
            <a:ext cx="1312025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F94CE6-4B3E-4E76-B420-26BBDCBE82E0}" type="slidenum">
              <a:rPr lang="en-US" sz="6600">
                <a:solidFill>
                  <a:schemeClr val="bg1"/>
                </a:solidFill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lang="en-US" sz="660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89EDA0D-8FF1-4800-339C-1BA1BCBA54AA}"/>
              </a:ext>
            </a:extLst>
          </p:cNvPr>
          <p:cNvSpPr txBox="1"/>
          <p:nvPr/>
        </p:nvSpPr>
        <p:spPr>
          <a:xfrm>
            <a:off x="5026469" y="420957"/>
            <a:ext cx="44329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Functional Centric Approach</a:t>
            </a:r>
          </a:p>
        </p:txBody>
      </p:sp>
      <p:pic>
        <p:nvPicPr>
          <p:cNvPr id="9" name="Picture 8" descr="A red and blue rectangular object with blue lines&#10;&#10;Description automatically generated">
            <a:extLst>
              <a:ext uri="{FF2B5EF4-FFF2-40B4-BE49-F238E27FC236}">
                <a16:creationId xmlns:a16="http://schemas.microsoft.com/office/drawing/2014/main" id="{D8C98B6E-275B-08FA-51B7-18B233C48E8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446" y="1164575"/>
            <a:ext cx="4979646" cy="1926048"/>
          </a:xfrm>
          <a:prstGeom prst="rect">
            <a:avLst/>
          </a:prstGeom>
        </p:spPr>
      </p:pic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811E2878-0E6D-330F-472D-8733214816E4}"/>
              </a:ext>
            </a:extLst>
          </p:cNvPr>
          <p:cNvSpPr/>
          <p:nvPr/>
        </p:nvSpPr>
        <p:spPr>
          <a:xfrm>
            <a:off x="2380795" y="3042634"/>
            <a:ext cx="1779638" cy="466034"/>
          </a:xfrm>
          <a:prstGeom prst="flowChartAlternateProcess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bg1"/>
                </a:solidFill>
              </a:rPr>
              <a:t>FEM Simulation</a:t>
            </a:r>
          </a:p>
        </p:txBody>
      </p:sp>
      <p:pic>
        <p:nvPicPr>
          <p:cNvPr id="17" name="Picture 16" descr="A black and blue fence&#10;&#10;Description automatically generated">
            <a:extLst>
              <a:ext uri="{FF2B5EF4-FFF2-40B4-BE49-F238E27FC236}">
                <a16:creationId xmlns:a16="http://schemas.microsoft.com/office/drawing/2014/main" id="{2DA16A32-67D5-546F-264D-B614BB8AB47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2424" y="1203609"/>
            <a:ext cx="3574607" cy="2688424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EFD8124B-3CB5-CEF1-2326-C537B80B6B84}"/>
              </a:ext>
            </a:extLst>
          </p:cNvPr>
          <p:cNvGrpSpPr/>
          <p:nvPr/>
        </p:nvGrpSpPr>
        <p:grpSpPr>
          <a:xfrm>
            <a:off x="917342" y="3655771"/>
            <a:ext cx="4883180" cy="2465949"/>
            <a:chOff x="-174537" y="4090705"/>
            <a:chExt cx="8005894" cy="2839474"/>
          </a:xfrm>
        </p:grpSpPr>
        <p:pic>
          <p:nvPicPr>
            <p:cNvPr id="26" name="Picture 25" descr="A black and white image of a diagram&#10;&#10;Description automatically generated with medium confidence">
              <a:extLst>
                <a:ext uri="{FF2B5EF4-FFF2-40B4-BE49-F238E27FC236}">
                  <a16:creationId xmlns:a16="http://schemas.microsoft.com/office/drawing/2014/main" id="{4B47E4A9-36F0-76BF-B40F-D93E6451475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69100" y="4090705"/>
              <a:ext cx="5062257" cy="283947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28" name="Picture 27" descr="A black and white diagram&#10;&#10;Description automatically generated">
              <a:extLst>
                <a:ext uri="{FF2B5EF4-FFF2-40B4-BE49-F238E27FC236}">
                  <a16:creationId xmlns:a16="http://schemas.microsoft.com/office/drawing/2014/main" id="{0CE0DD2F-5259-6F8E-02DF-689F3DC4FF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74537" y="4090706"/>
              <a:ext cx="2863185" cy="283947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0D4FA876-B803-70A3-E5F6-4EABE3D71BB0}"/>
              </a:ext>
            </a:extLst>
          </p:cNvPr>
          <p:cNvSpPr txBox="1"/>
          <p:nvPr/>
        </p:nvSpPr>
        <p:spPr>
          <a:xfrm>
            <a:off x="2164704" y="6139999"/>
            <a:ext cx="32681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Analog Design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3D783FA-532B-421E-744D-50597A58E1FB}"/>
              </a:ext>
            </a:extLst>
          </p:cNvPr>
          <p:cNvGrpSpPr/>
          <p:nvPr/>
        </p:nvGrpSpPr>
        <p:grpSpPr>
          <a:xfrm>
            <a:off x="6647415" y="4327953"/>
            <a:ext cx="5395030" cy="1633308"/>
            <a:chOff x="3768263" y="4150433"/>
            <a:chExt cx="7334297" cy="1854623"/>
          </a:xfrm>
        </p:grpSpPr>
        <p:pic>
          <p:nvPicPr>
            <p:cNvPr id="31" name="Picture 30" descr="A purple square with black text&#10;&#10;Description automatically generated">
              <a:extLst>
                <a:ext uri="{FF2B5EF4-FFF2-40B4-BE49-F238E27FC236}">
                  <a16:creationId xmlns:a16="http://schemas.microsoft.com/office/drawing/2014/main" id="{06AF425C-2088-2FB0-6B1D-3170D9DAE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08202" y="4150433"/>
              <a:ext cx="6894358" cy="1854623"/>
            </a:xfrm>
            <a:prstGeom prst="rect">
              <a:avLst/>
            </a:prstGeom>
          </p:spPr>
        </p:pic>
        <p:sp>
          <p:nvSpPr>
            <p:cNvPr id="32" name="Arrow: Right 31">
              <a:extLst>
                <a:ext uri="{FF2B5EF4-FFF2-40B4-BE49-F238E27FC236}">
                  <a16:creationId xmlns:a16="http://schemas.microsoft.com/office/drawing/2014/main" id="{40DF4573-C216-DA30-8BE4-E527E9798883}"/>
                </a:ext>
              </a:extLst>
            </p:cNvPr>
            <p:cNvSpPr/>
            <p:nvPr/>
          </p:nvSpPr>
          <p:spPr>
            <a:xfrm>
              <a:off x="3768263" y="5012305"/>
              <a:ext cx="403123" cy="369332"/>
            </a:xfrm>
            <a:prstGeom prst="rightArrow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33" name="Flowchart: Alternate Process 32">
            <a:extLst>
              <a:ext uri="{FF2B5EF4-FFF2-40B4-BE49-F238E27FC236}">
                <a16:creationId xmlns:a16="http://schemas.microsoft.com/office/drawing/2014/main" id="{4C0D873F-D9E0-C748-C8F0-F7FE7E438FB2}"/>
              </a:ext>
            </a:extLst>
          </p:cNvPr>
          <p:cNvSpPr/>
          <p:nvPr/>
        </p:nvSpPr>
        <p:spPr>
          <a:xfrm>
            <a:off x="8643993" y="6023114"/>
            <a:ext cx="2302468" cy="426850"/>
          </a:xfrm>
          <a:prstGeom prst="flowChartAlternateProcess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bg1"/>
                </a:solidFill>
              </a:rPr>
              <a:t>Digital Design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905EC9C-9C00-39DB-AFC5-457D1E0EF09D}"/>
              </a:ext>
            </a:extLst>
          </p:cNvPr>
          <p:cNvSpPr txBox="1"/>
          <p:nvPr/>
        </p:nvSpPr>
        <p:spPr>
          <a:xfrm>
            <a:off x="8909777" y="3813417"/>
            <a:ext cx="23648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ROM Design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0117612-FAEA-1397-98DB-04589C816F41}"/>
              </a:ext>
            </a:extLst>
          </p:cNvPr>
          <p:cNvCxnSpPr>
            <a:cxnSpLocks/>
          </p:cNvCxnSpPr>
          <p:nvPr/>
        </p:nvCxnSpPr>
        <p:spPr>
          <a:xfrm>
            <a:off x="6096000" y="1164575"/>
            <a:ext cx="0" cy="5060717"/>
          </a:xfrm>
          <a:prstGeom prst="line">
            <a:avLst/>
          </a:prstGeom>
          <a:ln w="57150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3074" name="Picture 2" descr="Logo de Ansys aux formats PNG transparent et SVG vectorisé">
            <a:extLst>
              <a:ext uri="{FF2B5EF4-FFF2-40B4-BE49-F238E27FC236}">
                <a16:creationId xmlns:a16="http://schemas.microsoft.com/office/drawing/2014/main" id="{0C0F9F55-411E-515B-6DAD-827D6C2099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971" y="1911350"/>
            <a:ext cx="390893" cy="336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Ansys Twin Builder - (주)모아소프트">
            <a:extLst>
              <a:ext uri="{FF2B5EF4-FFF2-40B4-BE49-F238E27FC236}">
                <a16:creationId xmlns:a16="http://schemas.microsoft.com/office/drawing/2014/main" id="{8D9F60BD-E349-638A-28D8-ABD5984757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83" t="23137" r="22999" b="24187"/>
          <a:stretch/>
        </p:blipFill>
        <p:spPr bwMode="auto">
          <a:xfrm>
            <a:off x="6343246" y="1745041"/>
            <a:ext cx="1445271" cy="639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Cadence – Logos Download">
            <a:extLst>
              <a:ext uri="{FF2B5EF4-FFF2-40B4-BE49-F238E27FC236}">
                <a16:creationId xmlns:a16="http://schemas.microsoft.com/office/drawing/2014/main" id="{82F74B0E-68CA-9FB5-396C-6204DF20C8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513021" y="4628437"/>
            <a:ext cx="1873703" cy="38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Install (Intel) Altera Quartus 16.0.2 OpenCL on Ubuntu 14.04 Linux ...">
            <a:extLst>
              <a:ext uri="{FF2B5EF4-FFF2-40B4-BE49-F238E27FC236}">
                <a16:creationId xmlns:a16="http://schemas.microsoft.com/office/drawing/2014/main" id="{7B4A9B90-C59A-1DFC-4F07-EE05ACDEC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8714" y="3959609"/>
            <a:ext cx="708686" cy="670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666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12" grpId="0"/>
      <p:bldP spid="29" grpId="0"/>
      <p:bldP spid="33" grpId="0"/>
      <p:bldP spid="3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rrow: Up 15">
            <a:extLst>
              <a:ext uri="{FF2B5EF4-FFF2-40B4-BE49-F238E27FC236}">
                <a16:creationId xmlns:a16="http://schemas.microsoft.com/office/drawing/2014/main" id="{F8308477-2E79-34ED-4C2A-B1F2C989445E}"/>
              </a:ext>
            </a:extLst>
          </p:cNvPr>
          <p:cNvSpPr/>
          <p:nvPr/>
        </p:nvSpPr>
        <p:spPr>
          <a:xfrm>
            <a:off x="9790083" y="2124614"/>
            <a:ext cx="414067" cy="595223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2"/>
          <p:cNvSpPr/>
          <p:nvPr/>
        </p:nvSpPr>
        <p:spPr>
          <a:xfrm>
            <a:off x="10019113" y="700410"/>
            <a:ext cx="367609" cy="345553"/>
          </a:xfrm>
          <a:custGeom>
            <a:avLst/>
            <a:gdLst/>
            <a:ahLst/>
            <a:cxnLst/>
            <a:rect l="l" t="t" r="r" b="b"/>
            <a:pathLst>
              <a:path w="551414" h="518330">
                <a:moveTo>
                  <a:pt x="0" y="0"/>
                </a:moveTo>
                <a:lnTo>
                  <a:pt x="551414" y="0"/>
                </a:lnTo>
                <a:lnTo>
                  <a:pt x="551414" y="518330"/>
                </a:lnTo>
                <a:lnTo>
                  <a:pt x="0" y="5183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0946461" y="723075"/>
            <a:ext cx="559739" cy="300224"/>
          </a:xfrm>
          <a:custGeom>
            <a:avLst/>
            <a:gdLst/>
            <a:ahLst/>
            <a:cxnLst/>
            <a:rect l="l" t="t" r="r" b="b"/>
            <a:pathLst>
              <a:path w="839609" h="450336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0386723" y="723075"/>
            <a:ext cx="559739" cy="300224"/>
          </a:xfrm>
          <a:custGeom>
            <a:avLst/>
            <a:gdLst/>
            <a:ahLst/>
            <a:cxnLst/>
            <a:rect l="l" t="t" r="r" b="b"/>
            <a:pathLst>
              <a:path w="839609" h="450336">
                <a:moveTo>
                  <a:pt x="0" y="0"/>
                </a:moveTo>
                <a:lnTo>
                  <a:pt x="839608" y="0"/>
                </a:lnTo>
                <a:lnTo>
                  <a:pt x="839608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69854" y="6499865"/>
            <a:ext cx="1819325" cy="325045"/>
          </a:xfrm>
          <a:custGeom>
            <a:avLst/>
            <a:gdLst/>
            <a:ahLst/>
            <a:cxnLst/>
            <a:rect l="l" t="t" r="r" b="b"/>
            <a:pathLst>
              <a:path w="2728988" h="487567">
                <a:moveTo>
                  <a:pt x="0" y="0"/>
                </a:moveTo>
                <a:lnTo>
                  <a:pt x="2728988" y="0"/>
                </a:lnTo>
                <a:lnTo>
                  <a:pt x="2728988" y="487566"/>
                </a:lnTo>
                <a:lnTo>
                  <a:pt x="0" y="4875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99223" y="257771"/>
            <a:ext cx="5422847" cy="564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458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RESULTS</a:t>
            </a:r>
            <a:endParaRPr kumimoji="0" lang="en-US" sz="364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K Modular"/>
              <a:ea typeface="HK Modular"/>
              <a:cs typeface="HK Modular"/>
              <a:sym typeface="HK Modular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F4238976-2C9A-44D6-7AFC-B90FC7E94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6754" y="6461516"/>
            <a:ext cx="1312025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F94CE6-4B3E-4E76-B420-26BBDCBE82E0}" type="slidenum">
              <a:rPr kumimoji="0" lang="en-US" sz="66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6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89EDA0D-8FF1-4800-339C-1BA1BCBA54AA}"/>
              </a:ext>
            </a:extLst>
          </p:cNvPr>
          <p:cNvSpPr txBox="1"/>
          <p:nvPr/>
        </p:nvSpPr>
        <p:spPr>
          <a:xfrm>
            <a:off x="4011171" y="254946"/>
            <a:ext cx="44329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Sensor</a:t>
            </a:r>
            <a:r>
              <a:rPr kumimoji="0" lang="en-US" sz="2800" b="1" i="0" u="none" strike="noStrike" kern="1200" cap="none" spc="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Analysis – ROM</a:t>
            </a: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9" descr="A graph with a line&#10;&#10;Description automatically generated">
            <a:extLst>
              <a:ext uri="{FF2B5EF4-FFF2-40B4-BE49-F238E27FC236}">
                <a16:creationId xmlns:a16="http://schemas.microsoft.com/office/drawing/2014/main" id="{A217F9E4-DB88-33AF-2775-20D82BE5495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221" y="2872469"/>
            <a:ext cx="5134414" cy="34565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 descr="A diagram of a load&#10;&#10;Description automatically generated">
            <a:extLst>
              <a:ext uri="{FF2B5EF4-FFF2-40B4-BE49-F238E27FC236}">
                <a16:creationId xmlns:a16="http://schemas.microsoft.com/office/drawing/2014/main" id="{5CAD8B7A-AF81-E0AE-5BB5-FA052EC1CFD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0" t="8228" r="1049" b="13384"/>
          <a:stretch/>
        </p:blipFill>
        <p:spPr>
          <a:xfrm>
            <a:off x="3577371" y="873186"/>
            <a:ext cx="4681685" cy="18529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Picture 14" descr="A graph of a line graph&#10;&#10;Description automatically generated with medium confidence">
            <a:extLst>
              <a:ext uri="{FF2B5EF4-FFF2-40B4-BE49-F238E27FC236}">
                <a16:creationId xmlns:a16="http://schemas.microsoft.com/office/drawing/2014/main" id="{0F126F81-DB0E-CCD9-84E2-F9F24DCD6E3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9245" y="2872469"/>
            <a:ext cx="5510036" cy="345657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68BCDFF-D54D-30F3-B667-21426DE60D6F}"/>
              </a:ext>
            </a:extLst>
          </p:cNvPr>
          <p:cNvSpPr txBox="1"/>
          <p:nvPr/>
        </p:nvSpPr>
        <p:spPr>
          <a:xfrm>
            <a:off x="8261949" y="1597236"/>
            <a:ext cx="3530001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>
                <a:solidFill>
                  <a:schemeClr val="bg1"/>
                </a:solidFill>
              </a:rPr>
              <a:t>Ready For Analog Domain</a:t>
            </a:r>
            <a:endParaRPr lang="en-US" sz="2400" b="1">
              <a:solidFill>
                <a:schemeClr val="bg1"/>
              </a:solidFill>
              <a:ea typeface="Calibri"/>
              <a:cs typeface="Calibri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484A14B-B621-9DC4-C0EC-84A9F39DFCA9}"/>
              </a:ext>
            </a:extLst>
          </p:cNvPr>
          <p:cNvCxnSpPr>
            <a:cxnSpLocks/>
          </p:cNvCxnSpPr>
          <p:nvPr/>
        </p:nvCxnSpPr>
        <p:spPr>
          <a:xfrm>
            <a:off x="5962756" y="2872469"/>
            <a:ext cx="38469" cy="3695410"/>
          </a:xfrm>
          <a:prstGeom prst="line">
            <a:avLst/>
          </a:prstGeom>
          <a:ln w="57150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0776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3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019113" y="700410"/>
            <a:ext cx="367609" cy="345553"/>
          </a:xfrm>
          <a:custGeom>
            <a:avLst/>
            <a:gdLst/>
            <a:ahLst/>
            <a:cxnLst/>
            <a:rect l="l" t="t" r="r" b="b"/>
            <a:pathLst>
              <a:path w="551414" h="518330">
                <a:moveTo>
                  <a:pt x="0" y="0"/>
                </a:moveTo>
                <a:lnTo>
                  <a:pt x="551414" y="0"/>
                </a:lnTo>
                <a:lnTo>
                  <a:pt x="551414" y="518330"/>
                </a:lnTo>
                <a:lnTo>
                  <a:pt x="0" y="5183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0946461" y="723075"/>
            <a:ext cx="559739" cy="300224"/>
          </a:xfrm>
          <a:custGeom>
            <a:avLst/>
            <a:gdLst/>
            <a:ahLst/>
            <a:cxnLst/>
            <a:rect l="l" t="t" r="r" b="b"/>
            <a:pathLst>
              <a:path w="839609" h="450336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0386723" y="723075"/>
            <a:ext cx="559739" cy="300224"/>
          </a:xfrm>
          <a:custGeom>
            <a:avLst/>
            <a:gdLst/>
            <a:ahLst/>
            <a:cxnLst/>
            <a:rect l="l" t="t" r="r" b="b"/>
            <a:pathLst>
              <a:path w="839609" h="450336">
                <a:moveTo>
                  <a:pt x="0" y="0"/>
                </a:moveTo>
                <a:lnTo>
                  <a:pt x="839608" y="0"/>
                </a:lnTo>
                <a:lnTo>
                  <a:pt x="839608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69854" y="6499865"/>
            <a:ext cx="1819325" cy="325045"/>
          </a:xfrm>
          <a:custGeom>
            <a:avLst/>
            <a:gdLst/>
            <a:ahLst/>
            <a:cxnLst/>
            <a:rect l="l" t="t" r="r" b="b"/>
            <a:pathLst>
              <a:path w="2728988" h="487567">
                <a:moveTo>
                  <a:pt x="0" y="0"/>
                </a:moveTo>
                <a:lnTo>
                  <a:pt x="2728988" y="0"/>
                </a:lnTo>
                <a:lnTo>
                  <a:pt x="2728988" y="487566"/>
                </a:lnTo>
                <a:lnTo>
                  <a:pt x="0" y="4875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49998" y="197446"/>
            <a:ext cx="2057347" cy="5101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458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K Modular"/>
                <a:ea typeface="HK Modular"/>
                <a:cs typeface="HK Modular"/>
                <a:sym typeface="HK Modular"/>
              </a:rPr>
              <a:t>ANALOG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F4238976-2C9A-44D6-7AFC-B90FC7E94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86722" y="6254840"/>
            <a:ext cx="1312025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F94CE6-4B3E-4E76-B420-26BBDCBE82E0}" type="slidenum">
              <a:rPr lang="en-US" sz="6600">
                <a:solidFill>
                  <a:schemeClr val="bg1"/>
                </a:solidFill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lang="en-US" sz="660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89EDA0D-8FF1-4800-339C-1BA1BCBA54AA}"/>
              </a:ext>
            </a:extLst>
          </p:cNvPr>
          <p:cNvSpPr txBox="1"/>
          <p:nvPr/>
        </p:nvSpPr>
        <p:spPr>
          <a:xfrm>
            <a:off x="4341148" y="348021"/>
            <a:ext cx="3505805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2800" b="1" i="1" err="1">
                <a:solidFill>
                  <a:prstClr val="white"/>
                </a:solidFill>
                <a:ea typeface="Calibri"/>
                <a:cs typeface="Calibri"/>
              </a:rPr>
              <a:t>FemtoFarads</a:t>
            </a:r>
            <a:r>
              <a:rPr lang="en-US" sz="2800" b="1" i="1">
                <a:solidFill>
                  <a:prstClr val="white"/>
                </a:solidFill>
                <a:ea typeface="Calibri"/>
                <a:cs typeface="Calibri"/>
              </a:rPr>
              <a:t>  to Volts</a:t>
            </a:r>
          </a:p>
        </p:txBody>
      </p:sp>
      <p:pic>
        <p:nvPicPr>
          <p:cNvPr id="6" name="Picture 5" descr="A screen shot of a graph&#10;&#10;Description automatically generated">
            <a:extLst>
              <a:ext uri="{FF2B5EF4-FFF2-40B4-BE49-F238E27FC236}">
                <a16:creationId xmlns:a16="http://schemas.microsoft.com/office/drawing/2014/main" id="{E80C18B3-0594-CC57-3155-4340F15972A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08808" y="3556297"/>
            <a:ext cx="5539363" cy="24784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C488943-AE89-DED9-6D21-5004BEEE7D9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9061" y="3554561"/>
            <a:ext cx="5271634" cy="2479819"/>
          </a:xfrm>
          <a:prstGeom prst="rect">
            <a:avLst/>
          </a:prstGeom>
        </p:spPr>
      </p:pic>
      <p:graphicFrame>
        <p:nvGraphicFramePr>
          <p:cNvPr id="38" name="Diagram 37">
            <a:extLst>
              <a:ext uri="{FF2B5EF4-FFF2-40B4-BE49-F238E27FC236}">
                <a16:creationId xmlns:a16="http://schemas.microsoft.com/office/drawing/2014/main" id="{B1D00F5B-097C-373A-0854-8462E996CD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8690168"/>
              </p:ext>
            </p:extLst>
          </p:nvPr>
        </p:nvGraphicFramePr>
        <p:xfrm>
          <a:off x="246792" y="-589005"/>
          <a:ext cx="5847835" cy="58619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1" r:lo="rId12" r:qs="rId13" r:cs="rId14"/>
          </a:graphicData>
        </a:graphic>
      </p:graphicFrame>
      <p:pic>
        <p:nvPicPr>
          <p:cNvPr id="207" name="Picture 206" descr="A diagram of a circuit&#10;&#10;Description automatically generated">
            <a:extLst>
              <a:ext uri="{FF2B5EF4-FFF2-40B4-BE49-F238E27FC236}">
                <a16:creationId xmlns:a16="http://schemas.microsoft.com/office/drawing/2014/main" id="{B15ED33E-DFAF-3C0A-7D70-8F904E2C562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04343" y="1218556"/>
            <a:ext cx="5085835" cy="2070702"/>
          </a:xfrm>
          <a:prstGeom prst="rect">
            <a:avLst/>
          </a:prstGeom>
        </p:spPr>
      </p:pic>
      <p:sp>
        <p:nvSpPr>
          <p:cNvPr id="274" name="TextBox 273">
            <a:extLst>
              <a:ext uri="{FF2B5EF4-FFF2-40B4-BE49-F238E27FC236}">
                <a16:creationId xmlns:a16="http://schemas.microsoft.com/office/drawing/2014/main" id="{50A88639-CADE-36C4-47A1-5ACB91E4DE52}"/>
              </a:ext>
            </a:extLst>
          </p:cNvPr>
          <p:cNvSpPr txBox="1"/>
          <p:nvPr/>
        </p:nvSpPr>
        <p:spPr>
          <a:xfrm>
            <a:off x="2095500" y="6032500"/>
            <a:ext cx="21590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i="1" err="1">
                <a:solidFill>
                  <a:srgbClr val="FFFFFF"/>
                </a:solidFill>
              </a:rPr>
              <a:t>FemtoFarad</a:t>
            </a:r>
            <a:r>
              <a:rPr lang="en-US" sz="2000" b="1" i="1">
                <a:solidFill>
                  <a:srgbClr val="FFFFFF"/>
                </a:solidFill>
              </a:rPr>
              <a:t> to mV</a:t>
            </a:r>
            <a:r>
              <a:rPr lang="en-US" sz="2000">
                <a:ea typeface="Calibri"/>
                <a:cs typeface="Calibri"/>
              </a:rPr>
              <a:t>​</a:t>
            </a: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DD0E31C1-C59F-D2DE-C6D3-4E94450F6D76}"/>
              </a:ext>
            </a:extLst>
          </p:cNvPr>
          <p:cNvSpPr txBox="1"/>
          <p:nvPr/>
        </p:nvSpPr>
        <p:spPr>
          <a:xfrm>
            <a:off x="8191499" y="6019799"/>
            <a:ext cx="12827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i="1">
                <a:solidFill>
                  <a:srgbClr val="FFFFFF"/>
                </a:solidFill>
              </a:rPr>
              <a:t>mV</a:t>
            </a:r>
            <a:r>
              <a:rPr lang="en-US" sz="2000" b="1" i="1">
                <a:solidFill>
                  <a:srgbClr val="FFFFFF"/>
                </a:solidFill>
                <a:ea typeface="Calibri"/>
                <a:cs typeface="Calibri"/>
              </a:rPr>
              <a:t> to V</a:t>
            </a:r>
            <a:r>
              <a:rPr lang="en-US" sz="2000">
                <a:ea typeface="Calibri"/>
                <a:cs typeface="Calibri"/>
              </a:rPr>
              <a:t>​</a:t>
            </a:r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61DFBE92-0776-84FE-B54D-DE4D490D9E98}"/>
              </a:ext>
            </a:extLst>
          </p:cNvPr>
          <p:cNvSpPr txBox="1"/>
          <p:nvPr/>
        </p:nvSpPr>
        <p:spPr>
          <a:xfrm>
            <a:off x="4076700" y="6300915"/>
            <a:ext cx="451433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i="1" dirty="0">
                <a:solidFill>
                  <a:srgbClr val="FFFFFF"/>
                </a:solidFill>
                <a:ea typeface="Calibri"/>
                <a:cs typeface="Calibri"/>
              </a:rPr>
              <a:t>~1mV/g =&gt; 1000x amplification for 1V/g</a:t>
            </a:r>
          </a:p>
        </p:txBody>
      </p:sp>
    </p:spTree>
    <p:extLst>
      <p:ext uri="{BB962C8B-B14F-4D97-AF65-F5344CB8AC3E}">
        <p14:creationId xmlns:p14="http://schemas.microsoft.com/office/powerpoint/2010/main" val="3891818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8" grpId="0">
        <p:bldAsOne/>
      </p:bldGraphic>
      <p:bldP spid="274" grpId="0"/>
      <p:bldP spid="275" grpId="0"/>
      <p:bldP spid="27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019113" y="700410"/>
            <a:ext cx="367609" cy="345553"/>
          </a:xfrm>
          <a:custGeom>
            <a:avLst/>
            <a:gdLst/>
            <a:ahLst/>
            <a:cxnLst/>
            <a:rect l="l" t="t" r="r" b="b"/>
            <a:pathLst>
              <a:path w="551414" h="518330">
                <a:moveTo>
                  <a:pt x="0" y="0"/>
                </a:moveTo>
                <a:lnTo>
                  <a:pt x="551414" y="0"/>
                </a:lnTo>
                <a:lnTo>
                  <a:pt x="551414" y="518330"/>
                </a:lnTo>
                <a:lnTo>
                  <a:pt x="0" y="5183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0946461" y="723075"/>
            <a:ext cx="559739" cy="300224"/>
          </a:xfrm>
          <a:custGeom>
            <a:avLst/>
            <a:gdLst/>
            <a:ahLst/>
            <a:cxnLst/>
            <a:rect l="l" t="t" r="r" b="b"/>
            <a:pathLst>
              <a:path w="839609" h="450336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0386723" y="723075"/>
            <a:ext cx="559739" cy="300224"/>
          </a:xfrm>
          <a:custGeom>
            <a:avLst/>
            <a:gdLst/>
            <a:ahLst/>
            <a:cxnLst/>
            <a:rect l="l" t="t" r="r" b="b"/>
            <a:pathLst>
              <a:path w="839609" h="450336">
                <a:moveTo>
                  <a:pt x="0" y="0"/>
                </a:moveTo>
                <a:lnTo>
                  <a:pt x="839608" y="0"/>
                </a:lnTo>
                <a:lnTo>
                  <a:pt x="839608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69854" y="6499865"/>
            <a:ext cx="1819325" cy="325045"/>
          </a:xfrm>
          <a:custGeom>
            <a:avLst/>
            <a:gdLst/>
            <a:ahLst/>
            <a:cxnLst/>
            <a:rect l="l" t="t" r="r" b="b"/>
            <a:pathLst>
              <a:path w="2728988" h="487567">
                <a:moveTo>
                  <a:pt x="0" y="0"/>
                </a:moveTo>
                <a:lnTo>
                  <a:pt x="2728988" y="0"/>
                </a:lnTo>
                <a:lnTo>
                  <a:pt x="2728988" y="487566"/>
                </a:lnTo>
                <a:lnTo>
                  <a:pt x="0" y="4875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70673" y="400646"/>
            <a:ext cx="1317572" cy="5101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458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K Modular"/>
                <a:ea typeface="HK Modular"/>
                <a:cs typeface="HK Modular"/>
                <a:sym typeface="HK Modular"/>
              </a:rPr>
              <a:t>ANALOG</a:t>
            </a:r>
            <a:endParaRPr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K Modular"/>
              <a:ea typeface="HK Modular"/>
              <a:cs typeface="HK Modular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F4238976-2C9A-44D6-7AFC-B90FC7E94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86722" y="6157590"/>
            <a:ext cx="1312025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F94CE6-4B3E-4E76-B420-26BBDCBE82E0}" type="slidenum">
              <a:rPr lang="en-US" sz="6600">
                <a:solidFill>
                  <a:schemeClr val="bg1"/>
                </a:solidFill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lang="en-US" sz="660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89EDA0D-8FF1-4800-339C-1BA1BCBA54AA}"/>
              </a:ext>
            </a:extLst>
          </p:cNvPr>
          <p:cNvSpPr txBox="1"/>
          <p:nvPr/>
        </p:nvSpPr>
        <p:spPr>
          <a:xfrm>
            <a:off x="2813973" y="405171"/>
            <a:ext cx="6096605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3200" i="1">
                <a:solidFill>
                  <a:prstClr val="white"/>
                </a:solidFill>
                <a:latin typeface="Calibri"/>
              </a:rPr>
              <a:t>Op-amp Circuit Design</a:t>
            </a:r>
            <a:r>
              <a:rPr kumimoji="0" lang="en-US" sz="3200" i="1" u="none" strike="noStrike" kern="1200" cap="none" spc="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and Analysis</a:t>
            </a:r>
            <a:endParaRPr lang="en-US" sz="320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pic>
        <p:nvPicPr>
          <p:cNvPr id="6" name="Picture 5" descr="A diagram of a circuit&#10;&#10;Description automatically generated">
            <a:extLst>
              <a:ext uri="{FF2B5EF4-FFF2-40B4-BE49-F238E27FC236}">
                <a16:creationId xmlns:a16="http://schemas.microsoft.com/office/drawing/2014/main" id="{5E7163EB-3217-E410-E1D1-88354253487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9526" y="1624090"/>
            <a:ext cx="4374650" cy="4045326"/>
          </a:xfrm>
          <a:prstGeom prst="rect">
            <a:avLst/>
          </a:prstGeom>
        </p:spPr>
      </p:pic>
      <p:pic>
        <p:nvPicPr>
          <p:cNvPr id="9" name="Picture 8" descr="A diagram of a circuit&#10;&#10;Description automatically generated">
            <a:extLst>
              <a:ext uri="{FF2B5EF4-FFF2-40B4-BE49-F238E27FC236}">
                <a16:creationId xmlns:a16="http://schemas.microsoft.com/office/drawing/2014/main" id="{E0E0D7EF-AE22-47F3-901B-4476B22512C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35739" y="1624090"/>
            <a:ext cx="7320471" cy="404532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13BEB9-1257-C287-4236-BDAB16FC377F}"/>
              </a:ext>
            </a:extLst>
          </p:cNvPr>
          <p:cNvSpPr txBox="1"/>
          <p:nvPr/>
        </p:nvSpPr>
        <p:spPr>
          <a:xfrm>
            <a:off x="1333500" y="5613400"/>
            <a:ext cx="21590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i="1">
                <a:solidFill>
                  <a:srgbClr val="FFFFFF"/>
                </a:solidFill>
              </a:rPr>
              <a:t>Pre-amp Stage</a:t>
            </a: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E16F4A-B7BD-FA7A-9698-96F25B36E2B7}"/>
              </a:ext>
            </a:extLst>
          </p:cNvPr>
          <p:cNvSpPr txBox="1"/>
          <p:nvPr/>
        </p:nvSpPr>
        <p:spPr>
          <a:xfrm>
            <a:off x="6527800" y="5613400"/>
            <a:ext cx="27432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i="1">
                <a:solidFill>
                  <a:srgbClr val="FFFFFF"/>
                </a:solidFill>
              </a:rPr>
              <a:t>Two-Stage</a:t>
            </a:r>
            <a:r>
              <a:rPr lang="en-US" sz="2000">
                <a:ea typeface="Calibri"/>
                <a:cs typeface="Calibri"/>
              </a:rPr>
              <a:t>​ </a:t>
            </a:r>
            <a:r>
              <a:rPr lang="en-US" sz="2000" b="1" i="1">
                <a:solidFill>
                  <a:srgbClr val="FFFFFF"/>
                </a:solidFill>
                <a:ea typeface="Calibri"/>
                <a:cs typeface="Calibri"/>
              </a:rPr>
              <a:t>Op-amp</a:t>
            </a:r>
            <a:r>
              <a:rPr lang="en-US" sz="2000">
                <a:ea typeface="Calibri"/>
                <a:cs typeface="Calibri"/>
              </a:rPr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167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019113" y="700410"/>
            <a:ext cx="367609" cy="345553"/>
          </a:xfrm>
          <a:custGeom>
            <a:avLst/>
            <a:gdLst/>
            <a:ahLst/>
            <a:cxnLst/>
            <a:rect l="l" t="t" r="r" b="b"/>
            <a:pathLst>
              <a:path w="551414" h="518330">
                <a:moveTo>
                  <a:pt x="0" y="0"/>
                </a:moveTo>
                <a:lnTo>
                  <a:pt x="551414" y="0"/>
                </a:lnTo>
                <a:lnTo>
                  <a:pt x="551414" y="518330"/>
                </a:lnTo>
                <a:lnTo>
                  <a:pt x="0" y="5183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0946461" y="723075"/>
            <a:ext cx="559739" cy="300224"/>
          </a:xfrm>
          <a:custGeom>
            <a:avLst/>
            <a:gdLst/>
            <a:ahLst/>
            <a:cxnLst/>
            <a:rect l="l" t="t" r="r" b="b"/>
            <a:pathLst>
              <a:path w="839609" h="450336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0386723" y="723075"/>
            <a:ext cx="559739" cy="300224"/>
          </a:xfrm>
          <a:custGeom>
            <a:avLst/>
            <a:gdLst/>
            <a:ahLst/>
            <a:cxnLst/>
            <a:rect l="l" t="t" r="r" b="b"/>
            <a:pathLst>
              <a:path w="839609" h="450336">
                <a:moveTo>
                  <a:pt x="0" y="0"/>
                </a:moveTo>
                <a:lnTo>
                  <a:pt x="839608" y="0"/>
                </a:lnTo>
                <a:lnTo>
                  <a:pt x="839608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69854" y="6499865"/>
            <a:ext cx="1819325" cy="325045"/>
          </a:xfrm>
          <a:custGeom>
            <a:avLst/>
            <a:gdLst/>
            <a:ahLst/>
            <a:cxnLst/>
            <a:rect l="l" t="t" r="r" b="b"/>
            <a:pathLst>
              <a:path w="2728988" h="487567">
                <a:moveTo>
                  <a:pt x="0" y="0"/>
                </a:moveTo>
                <a:lnTo>
                  <a:pt x="2728988" y="0"/>
                </a:lnTo>
                <a:lnTo>
                  <a:pt x="2728988" y="487566"/>
                </a:lnTo>
                <a:lnTo>
                  <a:pt x="0" y="4875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80198" y="324446"/>
            <a:ext cx="1822397" cy="5101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458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K Modular"/>
                <a:ea typeface="HK Modular"/>
                <a:cs typeface="HK Modular"/>
                <a:sym typeface="HK Modular"/>
              </a:rPr>
              <a:t>ANALOG</a:t>
            </a:r>
            <a:endParaRPr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K Modular"/>
              <a:ea typeface="HK Modular"/>
              <a:cs typeface="HK Modular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F4238976-2C9A-44D6-7AFC-B90FC7E94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70317" y="6208276"/>
            <a:ext cx="1312025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F94CE6-4B3E-4E76-B420-26BBDCBE82E0}" type="slidenum">
              <a:rPr lang="en-US" sz="6600">
                <a:solidFill>
                  <a:schemeClr val="bg1"/>
                </a:solidFill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lang="en-US" sz="660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89EDA0D-8FF1-4800-339C-1BA1BCBA54AA}"/>
              </a:ext>
            </a:extLst>
          </p:cNvPr>
          <p:cNvSpPr txBox="1"/>
          <p:nvPr/>
        </p:nvSpPr>
        <p:spPr>
          <a:xfrm>
            <a:off x="3083848" y="322621"/>
            <a:ext cx="6096605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3200">
                <a:solidFill>
                  <a:prstClr val="white"/>
                </a:solidFill>
                <a:latin typeface="Calibri"/>
              </a:rPr>
              <a:t>Op-amp </a:t>
            </a:r>
            <a:r>
              <a:rPr lang="en-US" sz="3200" i="1">
                <a:solidFill>
                  <a:prstClr val="white"/>
                </a:solidFill>
                <a:latin typeface="Calibri"/>
              </a:rPr>
              <a:t>Circuit</a:t>
            </a:r>
            <a:r>
              <a:rPr kumimoji="0" lang="en-US" sz="3200" i="1" u="none" strike="noStrike" kern="1200" cap="none" spc="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Design and Analysis</a:t>
            </a:r>
            <a:endParaRPr lang="en-US" sz="320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pic>
        <p:nvPicPr>
          <p:cNvPr id="10" name="Picture 9" descr="A screen shot of a computer&#10;&#10;Description automatically generated">
            <a:extLst>
              <a:ext uri="{FF2B5EF4-FFF2-40B4-BE49-F238E27FC236}">
                <a16:creationId xmlns:a16="http://schemas.microsoft.com/office/drawing/2014/main" id="{66DD67B3-2B39-13BE-F89D-1418F8F443C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0079" y="1353755"/>
            <a:ext cx="4886644" cy="4114800"/>
          </a:xfrm>
          <a:prstGeom prst="rect">
            <a:avLst/>
          </a:prstGeom>
        </p:spPr>
      </p:pic>
      <p:pic>
        <p:nvPicPr>
          <p:cNvPr id="12" name="Picture 11" descr="A graph on a black background&#10;&#10;Description automatically generated">
            <a:extLst>
              <a:ext uri="{FF2B5EF4-FFF2-40B4-BE49-F238E27FC236}">
                <a16:creationId xmlns:a16="http://schemas.microsoft.com/office/drawing/2014/main" id="{CAF1AD35-AA5A-0DD2-A85D-FFCA4CD9F6F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1742" y="1370853"/>
            <a:ext cx="4989393" cy="4114800"/>
          </a:xfrm>
          <a:prstGeom prst="rect">
            <a:avLst/>
          </a:prstGeom>
        </p:spPr>
      </p:pic>
      <p:pic>
        <p:nvPicPr>
          <p:cNvPr id="13" name="Picture 12" descr="A screenshot of a table&#10;&#10;Description automatically generated">
            <a:extLst>
              <a:ext uri="{FF2B5EF4-FFF2-40B4-BE49-F238E27FC236}">
                <a16:creationId xmlns:a16="http://schemas.microsoft.com/office/drawing/2014/main" id="{0CA0FC3B-CF17-59F1-C604-B45E6C535AE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91915" y="5587788"/>
            <a:ext cx="6096000" cy="1062741"/>
          </a:xfrm>
          <a:prstGeom prst="rect">
            <a:avLst/>
          </a:prstGeom>
        </p:spPr>
      </p:pic>
      <p:pic>
        <p:nvPicPr>
          <p:cNvPr id="15" name="Picture 14" descr="A diagram of a circuit&#10;&#10;Description automatically generated">
            <a:extLst>
              <a:ext uri="{FF2B5EF4-FFF2-40B4-BE49-F238E27FC236}">
                <a16:creationId xmlns:a16="http://schemas.microsoft.com/office/drawing/2014/main" id="{71B4F314-A984-FE6C-F362-15BDBECCD54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30500" y="1719261"/>
            <a:ext cx="6096000" cy="336867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F6D8C82-B0CA-11FA-5FF9-D5371E37C846}"/>
              </a:ext>
            </a:extLst>
          </p:cNvPr>
          <p:cNvSpPr txBox="1"/>
          <p:nvPr/>
        </p:nvSpPr>
        <p:spPr>
          <a:xfrm>
            <a:off x="2514600" y="1016000"/>
            <a:ext cx="27813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i="1">
                <a:solidFill>
                  <a:srgbClr val="FFFFFF"/>
                </a:solidFill>
              </a:rPr>
              <a:t>Finding miller resistance</a:t>
            </a:r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293EFE-5DE1-235A-A907-4A26B1FEAE7A}"/>
              </a:ext>
            </a:extLst>
          </p:cNvPr>
          <p:cNvSpPr txBox="1"/>
          <p:nvPr/>
        </p:nvSpPr>
        <p:spPr>
          <a:xfrm>
            <a:off x="8305800" y="1016000"/>
            <a:ext cx="21590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i="1">
                <a:solidFill>
                  <a:srgbClr val="FFFFFF"/>
                </a:solidFill>
              </a:rPr>
              <a:t>Stability Response</a:t>
            </a:r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A79BF1-D097-9DD2-F8A0-7628A8FB27E1}"/>
              </a:ext>
            </a:extLst>
          </p:cNvPr>
          <p:cNvSpPr txBox="1"/>
          <p:nvPr/>
        </p:nvSpPr>
        <p:spPr>
          <a:xfrm>
            <a:off x="1739900" y="5918200"/>
            <a:ext cx="21590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i="1">
                <a:solidFill>
                  <a:srgbClr val="FFFFFF"/>
                </a:solidFill>
              </a:rPr>
              <a:t>PVT Analysis</a:t>
            </a:r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0D0D95A-57A1-9D32-53AB-E383CDC7FD94}"/>
              </a:ext>
            </a:extLst>
          </p:cNvPr>
          <p:cNvSpPr/>
          <p:nvPr/>
        </p:nvSpPr>
        <p:spPr>
          <a:xfrm>
            <a:off x="6127750" y="2809874"/>
            <a:ext cx="1079500" cy="587375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085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1" grpId="0"/>
      <p:bldP spid="24" grpId="0"/>
      <p:bldP spid="2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019113" y="700410"/>
            <a:ext cx="367609" cy="345553"/>
          </a:xfrm>
          <a:custGeom>
            <a:avLst/>
            <a:gdLst/>
            <a:ahLst/>
            <a:cxnLst/>
            <a:rect l="l" t="t" r="r" b="b"/>
            <a:pathLst>
              <a:path w="551414" h="518330">
                <a:moveTo>
                  <a:pt x="0" y="0"/>
                </a:moveTo>
                <a:lnTo>
                  <a:pt x="551414" y="0"/>
                </a:lnTo>
                <a:lnTo>
                  <a:pt x="551414" y="518330"/>
                </a:lnTo>
                <a:lnTo>
                  <a:pt x="0" y="5183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0946461" y="723075"/>
            <a:ext cx="559739" cy="300224"/>
          </a:xfrm>
          <a:custGeom>
            <a:avLst/>
            <a:gdLst/>
            <a:ahLst/>
            <a:cxnLst/>
            <a:rect l="l" t="t" r="r" b="b"/>
            <a:pathLst>
              <a:path w="839609" h="450336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0386723" y="723075"/>
            <a:ext cx="559739" cy="300224"/>
          </a:xfrm>
          <a:custGeom>
            <a:avLst/>
            <a:gdLst/>
            <a:ahLst/>
            <a:cxnLst/>
            <a:rect l="l" t="t" r="r" b="b"/>
            <a:pathLst>
              <a:path w="839609" h="450336">
                <a:moveTo>
                  <a:pt x="0" y="0"/>
                </a:moveTo>
                <a:lnTo>
                  <a:pt x="839608" y="0"/>
                </a:lnTo>
                <a:lnTo>
                  <a:pt x="839608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69854" y="6499865"/>
            <a:ext cx="1819325" cy="325045"/>
          </a:xfrm>
          <a:custGeom>
            <a:avLst/>
            <a:gdLst/>
            <a:ahLst/>
            <a:cxnLst/>
            <a:rect l="l" t="t" r="r" b="b"/>
            <a:pathLst>
              <a:path w="2728988" h="487567">
                <a:moveTo>
                  <a:pt x="0" y="0"/>
                </a:moveTo>
                <a:lnTo>
                  <a:pt x="2728988" y="0"/>
                </a:lnTo>
                <a:lnTo>
                  <a:pt x="2728988" y="487566"/>
                </a:lnTo>
                <a:lnTo>
                  <a:pt x="0" y="4875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80198" y="343496"/>
            <a:ext cx="1812872" cy="519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458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K Modular"/>
                <a:ea typeface="HK Modular"/>
                <a:cs typeface="HK Modular"/>
                <a:sym typeface="HK Modular"/>
              </a:rPr>
              <a:t>ANALOG</a:t>
            </a:r>
            <a:endParaRPr lang="en-US" sz="2000">
              <a:ea typeface="Calibri"/>
              <a:cs typeface="Calibri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F4238976-2C9A-44D6-7AFC-B90FC7E94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70317" y="6148333"/>
            <a:ext cx="1312025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F94CE6-4B3E-4E76-B420-26BBDCBE82E0}" type="slidenum">
              <a:rPr lang="en-US" sz="6600">
                <a:solidFill>
                  <a:schemeClr val="bg1"/>
                </a:solidFill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lang="en-US" sz="660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89EDA0D-8FF1-4800-339C-1BA1BCBA54AA}"/>
              </a:ext>
            </a:extLst>
          </p:cNvPr>
          <p:cNvSpPr txBox="1"/>
          <p:nvPr/>
        </p:nvSpPr>
        <p:spPr>
          <a:xfrm>
            <a:off x="4255423" y="348021"/>
            <a:ext cx="3039080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3200" i="1">
                <a:solidFill>
                  <a:prstClr val="white"/>
                </a:solidFill>
                <a:latin typeface="Calibri"/>
              </a:rPr>
              <a:t>Circuit Design</a:t>
            </a:r>
            <a:endParaRPr lang="en-US" sz="3200" i="1">
              <a:solidFill>
                <a:prstClr val="white"/>
              </a:solidFill>
              <a:ea typeface="Calibri"/>
              <a:cs typeface="Calibri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BAB3171F-D84B-26FB-B137-02C0585369B5}"/>
              </a:ext>
            </a:extLst>
          </p:cNvPr>
          <p:cNvSpPr/>
          <p:nvPr/>
        </p:nvSpPr>
        <p:spPr>
          <a:xfrm>
            <a:off x="5772863" y="1961087"/>
            <a:ext cx="6259208" cy="3158955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67689F-6D48-A405-A96C-6F4CE245E8C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4690" y="2045086"/>
            <a:ext cx="5398019" cy="2863405"/>
          </a:xfrm>
          <a:prstGeom prst="rect">
            <a:avLst/>
          </a:prstGeom>
        </p:spPr>
      </p:pic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8595ACA9-B18E-D55E-AF71-C4790A14D9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3154948"/>
              </p:ext>
            </p:extLst>
          </p:nvPr>
        </p:nvGraphicFramePr>
        <p:xfrm>
          <a:off x="6546883" y="2347277"/>
          <a:ext cx="4952999" cy="220027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302000">
                  <a:extLst>
                    <a:ext uri="{9D8B030D-6E8A-4147-A177-3AD203B41FA5}">
                      <a16:colId xmlns:a16="http://schemas.microsoft.com/office/drawing/2014/main" val="4283210438"/>
                    </a:ext>
                  </a:extLst>
                </a:gridCol>
                <a:gridCol w="1650999">
                  <a:extLst>
                    <a:ext uri="{9D8B030D-6E8A-4147-A177-3AD203B41FA5}">
                      <a16:colId xmlns:a16="http://schemas.microsoft.com/office/drawing/2014/main" val="174450820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1" u="none" strike="noStrike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Parameter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1" u="none" strike="noStrike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Value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60401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1" u="none" strike="noStrike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Gain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1" u="none" strike="noStrike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~123 dB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688328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1" u="none" strike="noStrike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Gain at 5 kHz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1" u="none" strike="noStrike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95 dB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715972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1" u="none" strike="noStrike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Phase Margin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1" u="none" strike="noStrike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~45°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942455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1" u="none" strike="noStrike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GBW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1" u="none" strike="noStrike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5000 kHz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55723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1" u="none" strike="noStrike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Cutoff Frequency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1" u="none" strike="noStrike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207 Hz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72759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1" u="none" strike="noStrike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Percentage Error (for 1mV)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1" u="none" strike="noStrike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0.10%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1922339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04D4FE93-9ADC-7BF5-6D37-E8F6EC6E5937}"/>
              </a:ext>
            </a:extLst>
          </p:cNvPr>
          <p:cNvSpPr txBox="1"/>
          <p:nvPr/>
        </p:nvSpPr>
        <p:spPr>
          <a:xfrm>
            <a:off x="2247900" y="1549400"/>
            <a:ext cx="13716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i="1">
                <a:solidFill>
                  <a:srgbClr val="FFFFFF"/>
                </a:solidFill>
              </a:rPr>
              <a:t>Op-Amp</a:t>
            </a:r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6ADFA1-960B-228E-2373-BEB98356EACA}"/>
              </a:ext>
            </a:extLst>
          </p:cNvPr>
          <p:cNvSpPr txBox="1"/>
          <p:nvPr/>
        </p:nvSpPr>
        <p:spPr>
          <a:xfrm>
            <a:off x="8394700" y="1549400"/>
            <a:ext cx="21590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i="1">
                <a:solidFill>
                  <a:srgbClr val="FFFFFF"/>
                </a:solidFill>
              </a:rPr>
              <a:t>Specifications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9926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9D0D7E6-4E77-0B50-915B-BC96B26B3112}"/>
              </a:ext>
            </a:extLst>
          </p:cNvPr>
          <p:cNvSpPr/>
          <p:nvPr/>
        </p:nvSpPr>
        <p:spPr>
          <a:xfrm>
            <a:off x="5214541" y="1353695"/>
            <a:ext cx="5715946" cy="28784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2"/>
          <p:cNvSpPr/>
          <p:nvPr/>
        </p:nvSpPr>
        <p:spPr>
          <a:xfrm>
            <a:off x="10438213" y="186060"/>
            <a:ext cx="367609" cy="345553"/>
          </a:xfrm>
          <a:custGeom>
            <a:avLst/>
            <a:gdLst/>
            <a:ahLst/>
            <a:cxnLst/>
            <a:rect l="l" t="t" r="r" b="b"/>
            <a:pathLst>
              <a:path w="551414" h="518330">
                <a:moveTo>
                  <a:pt x="0" y="0"/>
                </a:moveTo>
                <a:lnTo>
                  <a:pt x="551414" y="0"/>
                </a:lnTo>
                <a:lnTo>
                  <a:pt x="551414" y="518330"/>
                </a:lnTo>
                <a:lnTo>
                  <a:pt x="0" y="5183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1365561" y="208725"/>
            <a:ext cx="559739" cy="300224"/>
          </a:xfrm>
          <a:custGeom>
            <a:avLst/>
            <a:gdLst/>
            <a:ahLst/>
            <a:cxnLst/>
            <a:rect l="l" t="t" r="r" b="b"/>
            <a:pathLst>
              <a:path w="839609" h="450336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0805823" y="208725"/>
            <a:ext cx="559739" cy="300224"/>
          </a:xfrm>
          <a:custGeom>
            <a:avLst/>
            <a:gdLst/>
            <a:ahLst/>
            <a:cxnLst/>
            <a:rect l="l" t="t" r="r" b="b"/>
            <a:pathLst>
              <a:path w="839609" h="450336">
                <a:moveTo>
                  <a:pt x="0" y="0"/>
                </a:moveTo>
                <a:lnTo>
                  <a:pt x="839608" y="0"/>
                </a:lnTo>
                <a:lnTo>
                  <a:pt x="839608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6193" y="6693048"/>
            <a:ext cx="1561747" cy="164059"/>
          </a:xfrm>
          <a:custGeom>
            <a:avLst/>
            <a:gdLst/>
            <a:ahLst/>
            <a:cxnLst/>
            <a:rect l="l" t="t" r="r" b="b"/>
            <a:pathLst>
              <a:path w="2728988" h="487567">
                <a:moveTo>
                  <a:pt x="0" y="0"/>
                </a:moveTo>
                <a:lnTo>
                  <a:pt x="2728988" y="0"/>
                </a:lnTo>
                <a:lnTo>
                  <a:pt x="2728988" y="487566"/>
                </a:lnTo>
                <a:lnTo>
                  <a:pt x="0" y="4875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80198" y="324446"/>
            <a:ext cx="5422847" cy="548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458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4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K Modular"/>
                <a:ea typeface="HK Modular"/>
                <a:cs typeface="HK Modular"/>
                <a:sym typeface="HK Modular"/>
              </a:rPr>
              <a:t>DIGITAL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F4238976-2C9A-44D6-7AFC-B90FC7E94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96256" y="6204438"/>
            <a:ext cx="1312025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F94CE6-4B3E-4E76-B420-26BBDCBE82E0}" type="slidenum">
              <a:rPr lang="en-US" sz="6600" dirty="0">
                <a:solidFill>
                  <a:schemeClr val="bg1"/>
                </a:solidFill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lang="en-US" sz="660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89EDA0D-8FF1-4800-339C-1BA1BCBA54AA}"/>
              </a:ext>
            </a:extLst>
          </p:cNvPr>
          <p:cNvSpPr txBox="1"/>
          <p:nvPr/>
        </p:nvSpPr>
        <p:spPr>
          <a:xfrm>
            <a:off x="3506883" y="411521"/>
            <a:ext cx="5213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 Approach</a:t>
            </a:r>
            <a:r>
              <a:rPr kumimoji="0" lang="en-US" sz="2400" b="1" i="0" u="none" strike="noStrike" kern="1200" cap="none" spc="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and </a:t>
            </a:r>
            <a:r>
              <a:rPr kumimoji="0" lang="en-US" sz="24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Desig</a:t>
            </a:r>
            <a:r>
              <a:rPr lang="en-US" sz="2400" b="1">
                <a:solidFill>
                  <a:prstClr val="white"/>
                </a:solidFill>
                <a:latin typeface="Calibri"/>
              </a:rPr>
              <a:t>n Consideration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2" name="Picture 11" descr="A blue line graph with text&#10;&#10;Description automatically generated">
            <a:extLst>
              <a:ext uri="{FF2B5EF4-FFF2-40B4-BE49-F238E27FC236}">
                <a16:creationId xmlns:a16="http://schemas.microsoft.com/office/drawing/2014/main" id="{FAFA42C3-F8DE-EB63-2905-14EF3072D39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8242" y="1469198"/>
            <a:ext cx="2819400" cy="1866900"/>
          </a:xfrm>
          <a:prstGeom prst="rect">
            <a:avLst/>
          </a:prstGeom>
        </p:spPr>
      </p:pic>
      <p:pic>
        <p:nvPicPr>
          <p:cNvPr id="13" name="Picture 12" descr="A blue background with white letters&#10;&#10;Description automatically generated">
            <a:extLst>
              <a:ext uri="{FF2B5EF4-FFF2-40B4-BE49-F238E27FC236}">
                <a16:creationId xmlns:a16="http://schemas.microsoft.com/office/drawing/2014/main" id="{62001921-BF0C-04F4-C5C0-23FF710E347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84754" y="1650173"/>
            <a:ext cx="1504950" cy="1514475"/>
          </a:xfrm>
          <a:prstGeom prst="rect">
            <a:avLst/>
          </a:prstGeom>
        </p:spPr>
      </p:pic>
      <p:pic>
        <p:nvPicPr>
          <p:cNvPr id="15" name="Picture 14" descr="A graph with red lines&#10;&#10;Description automatically generated">
            <a:extLst>
              <a:ext uri="{FF2B5EF4-FFF2-40B4-BE49-F238E27FC236}">
                <a16:creationId xmlns:a16="http://schemas.microsoft.com/office/drawing/2014/main" id="{0D724328-4623-BA63-1A74-24DDF1BCE597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12868" t="2063" r="-1783" b="822"/>
          <a:stretch/>
        </p:blipFill>
        <p:spPr>
          <a:xfrm>
            <a:off x="5566301" y="1706502"/>
            <a:ext cx="4884474" cy="1948159"/>
          </a:xfrm>
          <a:prstGeom prst="rect">
            <a:avLst/>
          </a:prstGeom>
        </p:spPr>
      </p:pic>
      <p:sp>
        <p:nvSpPr>
          <p:cNvPr id="21" name="Arrow: Right 20">
            <a:extLst>
              <a:ext uri="{FF2B5EF4-FFF2-40B4-BE49-F238E27FC236}">
                <a16:creationId xmlns:a16="http://schemas.microsoft.com/office/drawing/2014/main" id="{042505E7-1B20-28A6-A06A-600C44C43C0E}"/>
              </a:ext>
            </a:extLst>
          </p:cNvPr>
          <p:cNvSpPr/>
          <p:nvPr/>
        </p:nvSpPr>
        <p:spPr>
          <a:xfrm>
            <a:off x="4856174" y="2145246"/>
            <a:ext cx="707249" cy="295414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E8F52FE3-21C1-4F02-0E88-CE8976A45C1F}"/>
              </a:ext>
            </a:extLst>
          </p:cNvPr>
          <p:cNvSpPr/>
          <p:nvPr/>
        </p:nvSpPr>
        <p:spPr>
          <a:xfrm>
            <a:off x="3113099" y="2173821"/>
            <a:ext cx="707249" cy="295414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03B77A8-B1B4-0E30-615B-B48F942DE30F}"/>
              </a:ext>
            </a:extLst>
          </p:cNvPr>
          <p:cNvSpPr/>
          <p:nvPr/>
        </p:nvSpPr>
        <p:spPr>
          <a:xfrm>
            <a:off x="5561868" y="3667377"/>
            <a:ext cx="1584697" cy="3390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ea typeface="Calibri"/>
                <a:cs typeface="Calibri"/>
              </a:rPr>
              <a:t>TIME_WINDOW</a:t>
            </a:r>
            <a:endParaRPr lang="en-US" sz="16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61ACC84-E965-2C43-4D5B-AB7D362EAC2E}"/>
              </a:ext>
            </a:extLst>
          </p:cNvPr>
          <p:cNvSpPr/>
          <p:nvPr/>
        </p:nvSpPr>
        <p:spPr>
          <a:xfrm>
            <a:off x="7285893" y="3667377"/>
            <a:ext cx="1584697" cy="3390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ea typeface="Calibri"/>
                <a:cs typeface="Calibri"/>
              </a:rPr>
              <a:t>TIME_WINDOW</a:t>
            </a:r>
            <a:endParaRPr lang="en-US" sz="160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06564A2-AF3A-C63B-991F-6D7D17D68E78}"/>
              </a:ext>
            </a:extLst>
          </p:cNvPr>
          <p:cNvSpPr/>
          <p:nvPr/>
        </p:nvSpPr>
        <p:spPr>
          <a:xfrm>
            <a:off x="8867043" y="3667377"/>
            <a:ext cx="1584697" cy="3390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ea typeface="Calibri"/>
                <a:cs typeface="Calibri"/>
              </a:rPr>
              <a:t>TIME_WINDOW</a:t>
            </a:r>
            <a:endParaRPr lang="en-US" sz="1600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B2A927B3-68B7-4A42-BF64-36575DE3DF37}"/>
              </a:ext>
            </a:extLst>
          </p:cNvPr>
          <p:cNvSpPr/>
          <p:nvPr/>
        </p:nvSpPr>
        <p:spPr>
          <a:xfrm rot="5400000">
            <a:off x="6846899" y="4145496"/>
            <a:ext cx="573899" cy="295414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81EF31E7-913B-0B9C-D3BD-D02E36A3FE3A}"/>
              </a:ext>
            </a:extLst>
          </p:cNvPr>
          <p:cNvSpPr/>
          <p:nvPr/>
        </p:nvSpPr>
        <p:spPr>
          <a:xfrm rot="5400000">
            <a:off x="8580449" y="4145496"/>
            <a:ext cx="573899" cy="295414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30293276-1DE8-3260-40A6-80669A34D987}"/>
              </a:ext>
            </a:extLst>
          </p:cNvPr>
          <p:cNvSpPr/>
          <p:nvPr/>
        </p:nvSpPr>
        <p:spPr>
          <a:xfrm rot="5400000">
            <a:off x="10161599" y="4088346"/>
            <a:ext cx="573899" cy="295414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2BAC3BA-A836-C265-0154-73587237DEC4}"/>
              </a:ext>
            </a:extLst>
          </p:cNvPr>
          <p:cNvSpPr/>
          <p:nvPr/>
        </p:nvSpPr>
        <p:spPr>
          <a:xfrm>
            <a:off x="5214541" y="4573144"/>
            <a:ext cx="5725471" cy="1021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1930027-7F69-15F9-C645-FEA45E82E2C3}"/>
              </a:ext>
            </a:extLst>
          </p:cNvPr>
          <p:cNvSpPr/>
          <p:nvPr/>
        </p:nvSpPr>
        <p:spPr>
          <a:xfrm>
            <a:off x="6878027" y="4696550"/>
            <a:ext cx="443378" cy="68212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ea typeface="Calibri"/>
                <a:cs typeface="Calibri"/>
              </a:rPr>
              <a:t>g</a:t>
            </a:r>
            <a:endParaRPr lang="en-US" sz="240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273C8A0-06E5-7A53-7C5F-AE882A53A991}"/>
              </a:ext>
            </a:extLst>
          </p:cNvPr>
          <p:cNvSpPr/>
          <p:nvPr/>
        </p:nvSpPr>
        <p:spPr>
          <a:xfrm>
            <a:off x="8649677" y="4696550"/>
            <a:ext cx="443378" cy="68212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ea typeface="Calibri"/>
                <a:cs typeface="Calibri"/>
              </a:rPr>
              <a:t>g</a:t>
            </a:r>
            <a:endParaRPr lang="en-US" sz="240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1A20BB3-A246-C2D3-ABAB-A9735AA4E783}"/>
              </a:ext>
            </a:extLst>
          </p:cNvPr>
          <p:cNvSpPr/>
          <p:nvPr/>
        </p:nvSpPr>
        <p:spPr>
          <a:xfrm>
            <a:off x="10230827" y="4696550"/>
            <a:ext cx="443378" cy="68212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>
                <a:ea typeface="Calibri"/>
                <a:cs typeface="Calibri"/>
              </a:rPr>
              <a:t>g</a:t>
            </a:r>
            <a:endParaRPr lang="en-US" sz="2400"/>
          </a:p>
        </p:txBody>
      </p:sp>
      <p:sp>
        <p:nvSpPr>
          <p:cNvPr id="42" name="Freeform 7">
            <a:extLst>
              <a:ext uri="{FF2B5EF4-FFF2-40B4-BE49-F238E27FC236}">
                <a16:creationId xmlns:a16="http://schemas.microsoft.com/office/drawing/2014/main" id="{8A7C6930-AADE-C591-3381-97B0A0E423E3}"/>
              </a:ext>
            </a:extLst>
          </p:cNvPr>
          <p:cNvSpPr/>
          <p:nvPr/>
        </p:nvSpPr>
        <p:spPr>
          <a:xfrm>
            <a:off x="1116681" y="3651617"/>
            <a:ext cx="2610244" cy="1030951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C0E7A37-7586-B9D9-32EE-060088F06053}"/>
              </a:ext>
            </a:extLst>
          </p:cNvPr>
          <p:cNvSpPr txBox="1"/>
          <p:nvPr/>
        </p:nvSpPr>
        <p:spPr>
          <a:xfrm>
            <a:off x="1376089" y="3821675"/>
            <a:ext cx="222145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solidFill>
                  <a:srgbClr val="F79646"/>
                </a:solidFill>
                <a:ea typeface="Calibri"/>
                <a:cs typeface="Calibri"/>
              </a:rPr>
              <a:t>Time Window = 10 us</a:t>
            </a:r>
            <a:endParaRPr lang="en-US"/>
          </a:p>
          <a:p>
            <a:pPr algn="ctr"/>
            <a:r>
              <a:rPr lang="en-US" b="1">
                <a:solidFill>
                  <a:srgbClr val="F79646"/>
                </a:solidFill>
                <a:ea typeface="Calibri"/>
                <a:cs typeface="Calibri"/>
              </a:rPr>
              <a:t>Clock = 50 MHz</a:t>
            </a:r>
          </a:p>
        </p:txBody>
      </p:sp>
      <p:sp>
        <p:nvSpPr>
          <p:cNvPr id="45" name="Freeform 7">
            <a:extLst>
              <a:ext uri="{FF2B5EF4-FFF2-40B4-BE49-F238E27FC236}">
                <a16:creationId xmlns:a16="http://schemas.microsoft.com/office/drawing/2014/main" id="{7F11F07C-141A-9928-723A-C4C68DB58594}"/>
              </a:ext>
            </a:extLst>
          </p:cNvPr>
          <p:cNvSpPr/>
          <p:nvPr/>
        </p:nvSpPr>
        <p:spPr>
          <a:xfrm>
            <a:off x="1181257" y="5833315"/>
            <a:ext cx="2610244" cy="784106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04B6574-A647-DA0F-8AC0-3923E8C56A6E}"/>
              </a:ext>
            </a:extLst>
          </p:cNvPr>
          <p:cNvSpPr txBox="1"/>
          <p:nvPr/>
        </p:nvSpPr>
        <p:spPr>
          <a:xfrm>
            <a:off x="1391286" y="5972382"/>
            <a:ext cx="219998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solidFill>
                  <a:srgbClr val="F79646"/>
                </a:solidFill>
                <a:ea typeface="Calibri"/>
                <a:cs typeface="Calibri"/>
              </a:rPr>
              <a:t>2 Fmax &lt; F Clock</a:t>
            </a:r>
          </a:p>
          <a:p>
            <a:pPr algn="ctr"/>
            <a:r>
              <a:rPr lang="en-US" b="1">
                <a:solidFill>
                  <a:srgbClr val="F79646"/>
                </a:solidFill>
                <a:ea typeface="Calibri"/>
                <a:cs typeface="Calibri"/>
              </a:rPr>
              <a:t>18 MHz</a:t>
            </a:r>
          </a:p>
        </p:txBody>
      </p:sp>
      <p:sp>
        <p:nvSpPr>
          <p:cNvPr id="52" name="Freeform 7">
            <a:extLst>
              <a:ext uri="{FF2B5EF4-FFF2-40B4-BE49-F238E27FC236}">
                <a16:creationId xmlns:a16="http://schemas.microsoft.com/office/drawing/2014/main" id="{CAEB5B95-3106-4D41-4A4E-C5B203D9B0FB}"/>
              </a:ext>
            </a:extLst>
          </p:cNvPr>
          <p:cNvSpPr/>
          <p:nvPr/>
        </p:nvSpPr>
        <p:spPr>
          <a:xfrm>
            <a:off x="907816" y="4810611"/>
            <a:ext cx="3039540" cy="859232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 lIns="91440" tIns="45720" rIns="91440" bIns="45720" anchor="t"/>
          <a:lstStyle/>
          <a:p>
            <a:pPr defTabSz="609630"/>
            <a:r>
              <a:rPr lang="en-US" sz="1800" b="1" baseline="0">
                <a:solidFill>
                  <a:srgbClr val="F79646"/>
                </a:solidFill>
                <a:latin typeface="Calibri"/>
              </a:rPr>
              <a:t> </a:t>
            </a:r>
            <a:r>
              <a:rPr lang="en-US" sz="1800">
                <a:latin typeface="Calibri"/>
                <a:ea typeface="Calibri"/>
                <a:cs typeface="Calibri"/>
              </a:rPr>
              <a:t>​</a:t>
            </a:r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0ADFFC1-3C8C-5CBC-1CC8-07961A3009DF}"/>
              </a:ext>
            </a:extLst>
          </p:cNvPr>
          <p:cNvSpPr txBox="1"/>
          <p:nvPr/>
        </p:nvSpPr>
        <p:spPr>
          <a:xfrm>
            <a:off x="1072770" y="5031388"/>
            <a:ext cx="282246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err="1">
                <a:solidFill>
                  <a:srgbClr val="F79646"/>
                </a:solidFill>
                <a:ea typeface="Calibri"/>
                <a:cs typeface="Calibri"/>
              </a:rPr>
              <a:t>Fmin</a:t>
            </a:r>
            <a:r>
              <a:rPr lang="en-US" b="1">
                <a:solidFill>
                  <a:srgbClr val="F79646"/>
                </a:solidFill>
                <a:ea typeface="Calibri"/>
                <a:cs typeface="Calibri"/>
              </a:rPr>
              <a:t> &gt;= </a:t>
            </a:r>
            <a:r>
              <a:rPr lang="en-US" b="1" err="1">
                <a:solidFill>
                  <a:srgbClr val="F79646"/>
                </a:solidFill>
                <a:ea typeface="Calibri"/>
                <a:cs typeface="Calibri"/>
              </a:rPr>
              <a:t>Fmin</a:t>
            </a:r>
            <a:r>
              <a:rPr lang="en-US" b="1">
                <a:solidFill>
                  <a:srgbClr val="F79646"/>
                </a:solidFill>
                <a:ea typeface="Calibri"/>
                <a:cs typeface="Calibri"/>
              </a:rPr>
              <a:t> time window </a:t>
            </a:r>
          </a:p>
          <a:p>
            <a:pPr algn="ctr"/>
            <a:r>
              <a:rPr lang="en-US" b="1">
                <a:solidFill>
                  <a:srgbClr val="F79646"/>
                </a:solidFill>
                <a:ea typeface="Calibri"/>
                <a:cs typeface="Calibri"/>
              </a:rPr>
              <a:t>10 MHz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BE18D0B-62D2-71D1-5D6B-05B85E9370FB}"/>
              </a:ext>
            </a:extLst>
          </p:cNvPr>
          <p:cNvSpPr txBox="1"/>
          <p:nvPr/>
        </p:nvSpPr>
        <p:spPr>
          <a:xfrm>
            <a:off x="6677892" y="5742773"/>
            <a:ext cx="282246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>
                <a:solidFill>
                  <a:srgbClr val="F79646"/>
                </a:solidFill>
                <a:ea typeface="Calibri"/>
                <a:cs typeface="Calibri"/>
              </a:rPr>
              <a:t>Decision Circuit</a:t>
            </a:r>
            <a:endParaRPr lang="en-US" sz="240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2F257B1-8421-81FF-6EA3-8144A3071F4C}"/>
              </a:ext>
            </a:extLst>
          </p:cNvPr>
          <p:cNvSpPr txBox="1"/>
          <p:nvPr/>
        </p:nvSpPr>
        <p:spPr>
          <a:xfrm>
            <a:off x="6473975" y="934661"/>
            <a:ext cx="343421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>
                <a:solidFill>
                  <a:srgbClr val="F79646"/>
                </a:solidFill>
                <a:ea typeface="Calibri"/>
                <a:cs typeface="Calibri"/>
              </a:rPr>
              <a:t>Frequency Measurement</a:t>
            </a:r>
            <a:endParaRPr lang="en-US" sz="2400">
              <a:ea typeface="Calibri"/>
              <a:cs typeface="Calibri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985FDA3-FCEC-04DE-3C38-42C96D0DB481}"/>
              </a:ext>
            </a:extLst>
          </p:cNvPr>
          <p:cNvSpPr txBox="1"/>
          <p:nvPr/>
        </p:nvSpPr>
        <p:spPr>
          <a:xfrm>
            <a:off x="4831920" y="4809056"/>
            <a:ext cx="231804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>
                <a:solidFill>
                  <a:srgbClr val="F79646"/>
                </a:solidFill>
                <a:ea typeface="Calibri"/>
                <a:cs typeface="Calibri"/>
              </a:rPr>
              <a:t>-4&lt;=g&lt;=4</a:t>
            </a:r>
            <a:endParaRPr lang="en-US" sz="2400" b="1"/>
          </a:p>
        </p:txBody>
      </p:sp>
    </p:spTree>
    <p:extLst>
      <p:ext uri="{BB962C8B-B14F-4D97-AF65-F5344CB8AC3E}">
        <p14:creationId xmlns:p14="http://schemas.microsoft.com/office/powerpoint/2010/main" val="3665656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3" grpId="0"/>
      <p:bldP spid="21" grpId="0" animBg="1"/>
      <p:bldP spid="24" grpId="0" animBg="1"/>
      <p:bldP spid="26" grpId="0" animBg="1"/>
      <p:bldP spid="27" grpId="0" animBg="1"/>
      <p:bldP spid="28" grpId="0" animBg="1"/>
      <p:bldP spid="30" grpId="0" animBg="1"/>
      <p:bldP spid="32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42" grpId="0" animBg="1"/>
      <p:bldP spid="43" grpId="0"/>
      <p:bldP spid="45" grpId="0" animBg="1"/>
      <p:bldP spid="46" grpId="0"/>
      <p:bldP spid="52" grpId="0" animBg="1"/>
      <p:bldP spid="53" grpId="0"/>
      <p:bldP spid="54" grpId="0"/>
      <p:bldP spid="55" grpId="0"/>
      <p:bldP spid="5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019113" y="700410"/>
            <a:ext cx="367609" cy="345553"/>
          </a:xfrm>
          <a:custGeom>
            <a:avLst/>
            <a:gdLst/>
            <a:ahLst/>
            <a:cxnLst/>
            <a:rect l="l" t="t" r="r" b="b"/>
            <a:pathLst>
              <a:path w="551414" h="518330">
                <a:moveTo>
                  <a:pt x="0" y="0"/>
                </a:moveTo>
                <a:lnTo>
                  <a:pt x="551414" y="0"/>
                </a:lnTo>
                <a:lnTo>
                  <a:pt x="551414" y="518330"/>
                </a:lnTo>
                <a:lnTo>
                  <a:pt x="0" y="5183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0946461" y="723075"/>
            <a:ext cx="559739" cy="300224"/>
          </a:xfrm>
          <a:custGeom>
            <a:avLst/>
            <a:gdLst/>
            <a:ahLst/>
            <a:cxnLst/>
            <a:rect l="l" t="t" r="r" b="b"/>
            <a:pathLst>
              <a:path w="839609" h="450336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0386723" y="723075"/>
            <a:ext cx="559739" cy="300224"/>
          </a:xfrm>
          <a:custGeom>
            <a:avLst/>
            <a:gdLst/>
            <a:ahLst/>
            <a:cxnLst/>
            <a:rect l="l" t="t" r="r" b="b"/>
            <a:pathLst>
              <a:path w="839609" h="450336">
                <a:moveTo>
                  <a:pt x="0" y="0"/>
                </a:moveTo>
                <a:lnTo>
                  <a:pt x="839608" y="0"/>
                </a:lnTo>
                <a:lnTo>
                  <a:pt x="839608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69854" y="6499865"/>
            <a:ext cx="1819325" cy="325045"/>
          </a:xfrm>
          <a:custGeom>
            <a:avLst/>
            <a:gdLst/>
            <a:ahLst/>
            <a:cxnLst/>
            <a:rect l="l" t="t" r="r" b="b"/>
            <a:pathLst>
              <a:path w="2728988" h="487567">
                <a:moveTo>
                  <a:pt x="0" y="0"/>
                </a:moveTo>
                <a:lnTo>
                  <a:pt x="2728988" y="0"/>
                </a:lnTo>
                <a:lnTo>
                  <a:pt x="2728988" y="487566"/>
                </a:lnTo>
                <a:lnTo>
                  <a:pt x="0" y="4875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F4238976-2C9A-44D6-7AFC-B90FC7E94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27004" y="6235165"/>
            <a:ext cx="1312025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F94CE6-4B3E-4E76-B420-26BBDCBE82E0}" type="slidenum">
              <a:rPr lang="en-US" sz="6600" dirty="0">
                <a:solidFill>
                  <a:schemeClr val="bg1"/>
                </a:solidFill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lang="en-US" sz="6600">
              <a:solidFill>
                <a:schemeClr val="bg1"/>
              </a:solidFill>
            </a:endParaRPr>
          </a:p>
        </p:txBody>
      </p:sp>
      <p:pic>
        <p:nvPicPr>
          <p:cNvPr id="8" name="Picture 7" descr="A diagram of a device&#10;&#10;Description automatically generated">
            <a:extLst>
              <a:ext uri="{FF2B5EF4-FFF2-40B4-BE49-F238E27FC236}">
                <a16:creationId xmlns:a16="http://schemas.microsoft.com/office/drawing/2014/main" id="{11DF1FC9-0792-60BA-31FA-5D5ABC02869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22281" y="1420260"/>
            <a:ext cx="6573994" cy="4109432"/>
          </a:xfrm>
          <a:prstGeom prst="rect">
            <a:avLst/>
          </a:prstGeom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74C21B49-9254-06BB-9405-44F409130740}"/>
              </a:ext>
            </a:extLst>
          </p:cNvPr>
          <p:cNvSpPr/>
          <p:nvPr/>
        </p:nvSpPr>
        <p:spPr>
          <a:xfrm rot="18900000">
            <a:off x="5419032" y="4763864"/>
            <a:ext cx="728714" cy="134429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E5C522A4-1CBD-59C2-D87F-D67879DD2D1E}"/>
              </a:ext>
            </a:extLst>
          </p:cNvPr>
          <p:cNvSpPr/>
          <p:nvPr/>
        </p:nvSpPr>
        <p:spPr>
          <a:xfrm rot="16080000">
            <a:off x="7809053" y="3610879"/>
            <a:ext cx="717981" cy="188091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Graphic 18" descr="Badge 1 outline">
            <a:extLst>
              <a:ext uri="{FF2B5EF4-FFF2-40B4-BE49-F238E27FC236}">
                <a16:creationId xmlns:a16="http://schemas.microsoft.com/office/drawing/2014/main" id="{AEA27FAB-C41B-ABCD-93DC-A2F90E3E692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71187" y="4529569"/>
            <a:ext cx="914400" cy="914400"/>
          </a:xfrm>
          <a:prstGeom prst="rect">
            <a:avLst/>
          </a:prstGeom>
        </p:spPr>
      </p:pic>
      <p:pic>
        <p:nvPicPr>
          <p:cNvPr id="21" name="Graphic 20" descr="Badge outline">
            <a:extLst>
              <a:ext uri="{FF2B5EF4-FFF2-40B4-BE49-F238E27FC236}">
                <a16:creationId xmlns:a16="http://schemas.microsoft.com/office/drawing/2014/main" id="{DE3DF518-D67C-DCDB-3EF9-F0C9AC90897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816403" y="4080048"/>
            <a:ext cx="914400" cy="9144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FE174C6-350C-1228-E76D-8059327CD811}"/>
              </a:ext>
            </a:extLst>
          </p:cNvPr>
          <p:cNvSpPr txBox="1"/>
          <p:nvPr/>
        </p:nvSpPr>
        <p:spPr>
          <a:xfrm>
            <a:off x="3392337" y="416070"/>
            <a:ext cx="5213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 Approach</a:t>
            </a:r>
            <a:r>
              <a:rPr kumimoji="0" lang="en-US" sz="2400" b="1" i="0" u="none" strike="noStrike" kern="1200" cap="none" spc="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and </a:t>
            </a:r>
            <a:r>
              <a:rPr kumimoji="0" lang="en-US" sz="24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Desig</a:t>
            </a:r>
            <a:r>
              <a:rPr lang="en-US" sz="2400" b="1">
                <a:solidFill>
                  <a:prstClr val="white"/>
                </a:solidFill>
                <a:latin typeface="Calibri"/>
              </a:rPr>
              <a:t>n Consideration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Freeform 7">
            <a:extLst>
              <a:ext uri="{FF2B5EF4-FFF2-40B4-BE49-F238E27FC236}">
                <a16:creationId xmlns:a16="http://schemas.microsoft.com/office/drawing/2014/main" id="{FFFD1EEC-9BC6-CD37-E582-7DCEA25E5FA2}"/>
              </a:ext>
            </a:extLst>
          </p:cNvPr>
          <p:cNvSpPr/>
          <p:nvPr/>
        </p:nvSpPr>
        <p:spPr>
          <a:xfrm>
            <a:off x="311056" y="1879007"/>
            <a:ext cx="2921484" cy="945092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5928D5B-7AB9-7FCE-94F9-6F08A6CEB351}"/>
              </a:ext>
            </a:extLst>
          </p:cNvPr>
          <p:cNvSpPr txBox="1"/>
          <p:nvPr/>
        </p:nvSpPr>
        <p:spPr>
          <a:xfrm>
            <a:off x="557081" y="2120217"/>
            <a:ext cx="262928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>
                <a:solidFill>
                  <a:srgbClr val="F79646"/>
                </a:solidFill>
                <a:ea typeface="Calibri"/>
                <a:cs typeface="Calibri"/>
              </a:rPr>
              <a:t>Hierarchal Design</a:t>
            </a:r>
          </a:p>
        </p:txBody>
      </p:sp>
      <p:sp>
        <p:nvSpPr>
          <p:cNvPr id="31" name="Freeform 7">
            <a:extLst>
              <a:ext uri="{FF2B5EF4-FFF2-40B4-BE49-F238E27FC236}">
                <a16:creationId xmlns:a16="http://schemas.microsoft.com/office/drawing/2014/main" id="{954262CB-3BC1-0B57-D244-60D0BA05A880}"/>
              </a:ext>
            </a:extLst>
          </p:cNvPr>
          <p:cNvSpPr/>
          <p:nvPr/>
        </p:nvSpPr>
        <p:spPr>
          <a:xfrm>
            <a:off x="320092" y="3331881"/>
            <a:ext cx="2932217" cy="945092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21D6D71-ADAA-EFD0-5C80-B72269785439}"/>
              </a:ext>
            </a:extLst>
          </p:cNvPr>
          <p:cNvSpPr txBox="1"/>
          <p:nvPr/>
        </p:nvSpPr>
        <p:spPr>
          <a:xfrm>
            <a:off x="526342" y="3334700"/>
            <a:ext cx="2521958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>
                <a:solidFill>
                  <a:srgbClr val="F79646"/>
                </a:solidFill>
                <a:ea typeface="Calibri"/>
                <a:cs typeface="Calibri"/>
              </a:rPr>
              <a:t>Metastability Handling</a:t>
            </a:r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230F338F-5AB6-7149-EAD4-82A47206ACDF}"/>
              </a:ext>
            </a:extLst>
          </p:cNvPr>
          <p:cNvSpPr txBox="1"/>
          <p:nvPr/>
        </p:nvSpPr>
        <p:spPr>
          <a:xfrm>
            <a:off x="561148" y="324446"/>
            <a:ext cx="2327222" cy="5656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458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4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K Modular"/>
                <a:ea typeface="HK Modular"/>
                <a:cs typeface="HK Modular"/>
                <a:sym typeface="HK Modular"/>
              </a:rPr>
              <a:t>DIGITAL</a:t>
            </a:r>
          </a:p>
        </p:txBody>
      </p:sp>
    </p:spTree>
    <p:extLst>
      <p:ext uri="{BB962C8B-B14F-4D97-AF65-F5344CB8AC3E}">
        <p14:creationId xmlns:p14="http://schemas.microsoft.com/office/powerpoint/2010/main" val="1664409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25" grpId="0"/>
      <p:bldP spid="27" grpId="0" animBg="1"/>
      <p:bldP spid="29" grpId="0"/>
      <p:bldP spid="31" grpId="0" animBg="1"/>
      <p:bldP spid="3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019113" y="700410"/>
            <a:ext cx="367609" cy="345553"/>
          </a:xfrm>
          <a:custGeom>
            <a:avLst/>
            <a:gdLst/>
            <a:ahLst/>
            <a:cxnLst/>
            <a:rect l="l" t="t" r="r" b="b"/>
            <a:pathLst>
              <a:path w="551414" h="518330">
                <a:moveTo>
                  <a:pt x="0" y="0"/>
                </a:moveTo>
                <a:lnTo>
                  <a:pt x="551414" y="0"/>
                </a:lnTo>
                <a:lnTo>
                  <a:pt x="551414" y="518330"/>
                </a:lnTo>
                <a:lnTo>
                  <a:pt x="0" y="5183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0946461" y="723075"/>
            <a:ext cx="559739" cy="300224"/>
          </a:xfrm>
          <a:custGeom>
            <a:avLst/>
            <a:gdLst/>
            <a:ahLst/>
            <a:cxnLst/>
            <a:rect l="l" t="t" r="r" b="b"/>
            <a:pathLst>
              <a:path w="839609" h="450336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0386723" y="723075"/>
            <a:ext cx="559739" cy="300224"/>
          </a:xfrm>
          <a:custGeom>
            <a:avLst/>
            <a:gdLst/>
            <a:ahLst/>
            <a:cxnLst/>
            <a:rect l="l" t="t" r="r" b="b"/>
            <a:pathLst>
              <a:path w="839609" h="450336">
                <a:moveTo>
                  <a:pt x="0" y="0"/>
                </a:moveTo>
                <a:lnTo>
                  <a:pt x="839608" y="0"/>
                </a:lnTo>
                <a:lnTo>
                  <a:pt x="839608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6193" y="6693048"/>
            <a:ext cx="1561747" cy="164059"/>
          </a:xfrm>
          <a:custGeom>
            <a:avLst/>
            <a:gdLst/>
            <a:ahLst/>
            <a:cxnLst/>
            <a:rect l="l" t="t" r="r" b="b"/>
            <a:pathLst>
              <a:path w="2728988" h="487567">
                <a:moveTo>
                  <a:pt x="0" y="0"/>
                </a:moveTo>
                <a:lnTo>
                  <a:pt x="2728988" y="0"/>
                </a:lnTo>
                <a:lnTo>
                  <a:pt x="2728988" y="487566"/>
                </a:lnTo>
                <a:lnTo>
                  <a:pt x="0" y="4875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80198" y="324446"/>
            <a:ext cx="5422847" cy="548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458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4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K Modular"/>
                <a:ea typeface="HK Modular"/>
                <a:cs typeface="HK Modular"/>
                <a:sym typeface="HK Modular"/>
              </a:rPr>
              <a:t>DIGITAL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F4238976-2C9A-44D6-7AFC-B90FC7E94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86722" y="6329046"/>
            <a:ext cx="1312025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F94CE6-4B3E-4E76-B420-26BBDCBE82E0}" type="slidenum"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6">
                    <a:lumMod val="76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4400" b="0" i="0" u="none" strike="noStrike" kern="1200" cap="none" spc="0" normalizeH="0" baseline="0" noProof="0">
              <a:ln>
                <a:noFill/>
              </a:ln>
              <a:solidFill>
                <a:schemeClr val="accent6">
                  <a:lumMod val="76000"/>
                </a:scheme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89EDA0D-8FF1-4800-339C-1BA1BCBA54AA}"/>
              </a:ext>
            </a:extLst>
          </p:cNvPr>
          <p:cNvSpPr txBox="1"/>
          <p:nvPr/>
        </p:nvSpPr>
        <p:spPr>
          <a:xfrm>
            <a:off x="3506883" y="411521"/>
            <a:ext cx="5213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 Approach</a:t>
            </a:r>
            <a:r>
              <a:rPr kumimoji="0" lang="en-US" sz="2400" b="1" i="0" u="none" strike="noStrike" kern="1200" cap="none" spc="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and </a:t>
            </a:r>
            <a:r>
              <a:rPr kumimoji="0" lang="en-US" sz="24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Desig</a:t>
            </a:r>
            <a:r>
              <a:rPr lang="en-US" sz="2400" b="1">
                <a:solidFill>
                  <a:prstClr val="white"/>
                </a:solidFill>
                <a:latin typeface="Calibri"/>
              </a:rPr>
              <a:t>n Consideration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 descr="A diagram of a computer&#10;&#10;Description automatically generated">
            <a:extLst>
              <a:ext uri="{FF2B5EF4-FFF2-40B4-BE49-F238E27FC236}">
                <a16:creationId xmlns:a16="http://schemas.microsoft.com/office/drawing/2014/main" id="{0281E82A-920E-ED15-844B-1A907B79177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7139" y="1276946"/>
            <a:ext cx="5516451" cy="3234489"/>
          </a:xfrm>
          <a:prstGeom prst="rect">
            <a:avLst/>
          </a:prstGeom>
        </p:spPr>
      </p:pic>
      <p:pic>
        <p:nvPicPr>
          <p:cNvPr id="7" name="Picture 6" descr="A diagram of a graph&#10;&#10;Description automatically generated">
            <a:extLst>
              <a:ext uri="{FF2B5EF4-FFF2-40B4-BE49-F238E27FC236}">
                <a16:creationId xmlns:a16="http://schemas.microsoft.com/office/drawing/2014/main" id="{9D42D202-9B78-49C5-9839-E71965240A1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00530" y="4529327"/>
            <a:ext cx="4625663" cy="2254630"/>
          </a:xfrm>
          <a:prstGeom prst="rect">
            <a:avLst/>
          </a:prstGeom>
        </p:spPr>
      </p:pic>
      <p:pic>
        <p:nvPicPr>
          <p:cNvPr id="8" name="Picture 7" descr="A diagram of a computer program&#10;&#10;Description automatically generated">
            <a:extLst>
              <a:ext uri="{FF2B5EF4-FFF2-40B4-BE49-F238E27FC236}">
                <a16:creationId xmlns:a16="http://schemas.microsoft.com/office/drawing/2014/main" id="{F317EA9A-A04E-19EE-0E20-EB4A3D383FD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9154" y="1271756"/>
            <a:ext cx="5774029" cy="3226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184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019113" y="700410"/>
            <a:ext cx="367609" cy="345553"/>
          </a:xfrm>
          <a:custGeom>
            <a:avLst/>
            <a:gdLst/>
            <a:ahLst/>
            <a:cxnLst/>
            <a:rect l="l" t="t" r="r" b="b"/>
            <a:pathLst>
              <a:path w="551414" h="518330">
                <a:moveTo>
                  <a:pt x="0" y="0"/>
                </a:moveTo>
                <a:lnTo>
                  <a:pt x="551414" y="0"/>
                </a:lnTo>
                <a:lnTo>
                  <a:pt x="551414" y="518330"/>
                </a:lnTo>
                <a:lnTo>
                  <a:pt x="0" y="5183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0946461" y="723075"/>
            <a:ext cx="559739" cy="300224"/>
          </a:xfrm>
          <a:custGeom>
            <a:avLst/>
            <a:gdLst/>
            <a:ahLst/>
            <a:cxnLst/>
            <a:rect l="l" t="t" r="r" b="b"/>
            <a:pathLst>
              <a:path w="839609" h="450336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0386723" y="723075"/>
            <a:ext cx="559739" cy="300224"/>
          </a:xfrm>
          <a:custGeom>
            <a:avLst/>
            <a:gdLst/>
            <a:ahLst/>
            <a:cxnLst/>
            <a:rect l="l" t="t" r="r" b="b"/>
            <a:pathLst>
              <a:path w="839609" h="450336">
                <a:moveTo>
                  <a:pt x="0" y="0"/>
                </a:moveTo>
                <a:lnTo>
                  <a:pt x="839608" y="0"/>
                </a:lnTo>
                <a:lnTo>
                  <a:pt x="839608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69854" y="6499865"/>
            <a:ext cx="1819325" cy="325045"/>
          </a:xfrm>
          <a:custGeom>
            <a:avLst/>
            <a:gdLst/>
            <a:ahLst/>
            <a:cxnLst/>
            <a:rect l="l" t="t" r="r" b="b"/>
            <a:pathLst>
              <a:path w="2728988" h="487567">
                <a:moveTo>
                  <a:pt x="0" y="0"/>
                </a:moveTo>
                <a:lnTo>
                  <a:pt x="2728988" y="0"/>
                </a:lnTo>
                <a:lnTo>
                  <a:pt x="2728988" y="487566"/>
                </a:lnTo>
                <a:lnTo>
                  <a:pt x="0" y="4875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80198" y="324446"/>
            <a:ext cx="5422847" cy="548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458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4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TESTING</a:t>
            </a:r>
            <a:endParaRPr kumimoji="0" lang="en-US" sz="364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K Modular"/>
              <a:ea typeface="HK Modular"/>
              <a:cs typeface="HK Modular"/>
              <a:sym typeface="HK Modular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F4238976-2C9A-44D6-7AFC-B90FC7E94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70317" y="6221059"/>
            <a:ext cx="1312025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F94CE6-4B3E-4E76-B420-26BBDCBE82E0}" type="slidenum">
              <a:rPr lang="en-US" sz="6600" dirty="0">
                <a:solidFill>
                  <a:schemeClr val="bg1"/>
                </a:solidFill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lang="en-US" sz="660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89EDA0D-8FF1-4800-339C-1BA1BCBA54AA}"/>
              </a:ext>
            </a:extLst>
          </p:cNvPr>
          <p:cNvSpPr txBox="1"/>
          <p:nvPr/>
        </p:nvSpPr>
        <p:spPr>
          <a:xfrm>
            <a:off x="2766348" y="411521"/>
            <a:ext cx="5213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 System</a:t>
            </a:r>
            <a:r>
              <a:rPr kumimoji="0" lang="en-US" sz="2400" b="1" i="0" u="none" strike="noStrike" kern="1200" cap="none" spc="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Functional Testing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3" name="Picture 12" descr="A screen shot of a graph&#10;&#10;Description automatically generated">
            <a:extLst>
              <a:ext uri="{FF2B5EF4-FFF2-40B4-BE49-F238E27FC236}">
                <a16:creationId xmlns:a16="http://schemas.microsoft.com/office/drawing/2014/main" id="{10470378-E6F8-47E7-3B9D-F9CCC600EF3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6680" y="1142129"/>
            <a:ext cx="4695825" cy="4981575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A4E122D-D773-0730-57D3-715EF2E71B01}"/>
              </a:ext>
            </a:extLst>
          </p:cNvPr>
          <p:cNvSpPr/>
          <p:nvPr/>
        </p:nvSpPr>
        <p:spPr>
          <a:xfrm>
            <a:off x="7366911" y="1023182"/>
            <a:ext cx="1570067" cy="6884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Timer= limit ?</a:t>
            </a:r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03073E8-35DF-4E99-3485-52135CC10D33}"/>
              </a:ext>
            </a:extLst>
          </p:cNvPr>
          <p:cNvSpPr/>
          <p:nvPr/>
        </p:nvSpPr>
        <p:spPr>
          <a:xfrm>
            <a:off x="9084094" y="2150083"/>
            <a:ext cx="1570067" cy="6884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Counter + 1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D13549C-C51C-3D9F-8F73-F41C8E762CF2}"/>
              </a:ext>
            </a:extLst>
          </p:cNvPr>
          <p:cNvSpPr/>
          <p:nvPr/>
        </p:nvSpPr>
        <p:spPr>
          <a:xfrm>
            <a:off x="5885840" y="2160815"/>
            <a:ext cx="1570067" cy="6884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Final Edge Count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2C9B1AC-02EF-0A34-2B16-37DB86D9B438}"/>
              </a:ext>
            </a:extLst>
          </p:cNvPr>
          <p:cNvSpPr/>
          <p:nvPr/>
        </p:nvSpPr>
        <p:spPr>
          <a:xfrm>
            <a:off x="5885840" y="3427238"/>
            <a:ext cx="1570067" cy="6884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Calc Frequency</a:t>
            </a:r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8DB4DD9-79C2-1F95-E40A-061860EA0D57}"/>
              </a:ext>
            </a:extLst>
          </p:cNvPr>
          <p:cNvSpPr/>
          <p:nvPr/>
        </p:nvSpPr>
        <p:spPr>
          <a:xfrm>
            <a:off x="5885840" y="4682928"/>
            <a:ext cx="1570067" cy="6884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Calc Acceleration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9D7BC817-1913-B7D9-157D-AA8DC90A2D45}"/>
              </a:ext>
            </a:extLst>
          </p:cNvPr>
          <p:cNvSpPr/>
          <p:nvPr/>
        </p:nvSpPr>
        <p:spPr>
          <a:xfrm rot="5400000">
            <a:off x="6393455" y="4249332"/>
            <a:ext cx="573899" cy="295414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9D959439-149A-E925-4F40-D4A90BF093F0}"/>
              </a:ext>
            </a:extLst>
          </p:cNvPr>
          <p:cNvSpPr/>
          <p:nvPr/>
        </p:nvSpPr>
        <p:spPr>
          <a:xfrm rot="5400000">
            <a:off x="6395601" y="2985056"/>
            <a:ext cx="573899" cy="295414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F69379FE-B542-718B-6FB5-6C56819AC390}"/>
              </a:ext>
            </a:extLst>
          </p:cNvPr>
          <p:cNvSpPr/>
          <p:nvPr/>
        </p:nvSpPr>
        <p:spPr>
          <a:xfrm rot="8460000">
            <a:off x="6574832" y="1736879"/>
            <a:ext cx="906603" cy="273950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5A15AACC-7E52-5A8E-BEFD-E689D0BA95B6}"/>
              </a:ext>
            </a:extLst>
          </p:cNvPr>
          <p:cNvSpPr/>
          <p:nvPr/>
        </p:nvSpPr>
        <p:spPr>
          <a:xfrm rot="2160000">
            <a:off x="8830781" y="1749757"/>
            <a:ext cx="906603" cy="273950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EBFE6F0-3020-37CB-24A1-092A2A92751D}"/>
              </a:ext>
            </a:extLst>
          </p:cNvPr>
          <p:cNvSpPr/>
          <p:nvPr/>
        </p:nvSpPr>
        <p:spPr>
          <a:xfrm>
            <a:off x="7967924" y="4682928"/>
            <a:ext cx="1741785" cy="83869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Reset Timer, Counter and flags</a:t>
            </a:r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9D69F3CB-DBC5-4B65-C8A7-F7E02FAA9533}"/>
              </a:ext>
            </a:extLst>
          </p:cNvPr>
          <p:cNvSpPr/>
          <p:nvPr/>
        </p:nvSpPr>
        <p:spPr>
          <a:xfrm>
            <a:off x="7372250" y="4884690"/>
            <a:ext cx="691954" cy="273949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D108D2-B0B6-22C7-03D5-0FECD4AE3503}"/>
              </a:ext>
            </a:extLst>
          </p:cNvPr>
          <p:cNvSpPr txBox="1"/>
          <p:nvPr/>
        </p:nvSpPr>
        <p:spPr>
          <a:xfrm>
            <a:off x="9221273" y="1322232"/>
            <a:ext cx="6503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NO</a:t>
            </a:r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A1965F-A89B-752E-7615-434B8E6B9A30}"/>
              </a:ext>
            </a:extLst>
          </p:cNvPr>
          <p:cNvSpPr txBox="1"/>
          <p:nvPr/>
        </p:nvSpPr>
        <p:spPr>
          <a:xfrm>
            <a:off x="6495245" y="1526148"/>
            <a:ext cx="6503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YES</a:t>
            </a:r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2E4F41F-1D10-1DFD-D26A-D271F4214DF3}"/>
              </a:ext>
            </a:extLst>
          </p:cNvPr>
          <p:cNvSpPr/>
          <p:nvPr/>
        </p:nvSpPr>
        <p:spPr>
          <a:xfrm>
            <a:off x="6894685" y="4253632"/>
            <a:ext cx="1140772" cy="280612"/>
          </a:xfrm>
          <a:prstGeom prst="roundRect">
            <a:avLst/>
          </a:prstGeom>
          <a:solidFill>
            <a:srgbClr val="92D05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Start calc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C2509C1-9F28-ED87-856E-A76261488C9C}"/>
              </a:ext>
            </a:extLst>
          </p:cNvPr>
          <p:cNvSpPr/>
          <p:nvPr/>
        </p:nvSpPr>
        <p:spPr>
          <a:xfrm>
            <a:off x="7366911" y="1871041"/>
            <a:ext cx="1151505" cy="269879"/>
          </a:xfrm>
          <a:prstGeom prst="roundRect">
            <a:avLst/>
          </a:prstGeom>
          <a:solidFill>
            <a:srgbClr val="92D05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count end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F628A0-B4E7-F695-E5FB-7B44D7CC44A2}"/>
              </a:ext>
            </a:extLst>
          </p:cNvPr>
          <p:cNvSpPr txBox="1"/>
          <p:nvPr/>
        </p:nvSpPr>
        <p:spPr>
          <a:xfrm>
            <a:off x="6699161" y="5754710"/>
            <a:ext cx="249635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Each Time Window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BB1EC6F3-F33A-9F97-FBF2-9543B2192601}"/>
              </a:ext>
            </a:extLst>
          </p:cNvPr>
          <p:cNvSpPr/>
          <p:nvPr/>
        </p:nvSpPr>
        <p:spPr>
          <a:xfrm rot="5400000">
            <a:off x="7807985" y="737691"/>
            <a:ext cx="595363" cy="231021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461098-EC90-CE48-3394-E99EAC0F95C0}"/>
              </a:ext>
            </a:extLst>
          </p:cNvPr>
          <p:cNvSpPr txBox="1"/>
          <p:nvPr/>
        </p:nvSpPr>
        <p:spPr>
          <a:xfrm>
            <a:off x="7761668" y="227527"/>
            <a:ext cx="8972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FFFF"/>
                </a:solidFill>
                <a:ea typeface="Calibri"/>
                <a:cs typeface="Calibri"/>
              </a:rPr>
              <a:t>START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6E6E88D-03D6-713C-AC6F-3E6AE7072428}"/>
              </a:ext>
            </a:extLst>
          </p:cNvPr>
          <p:cNvSpPr/>
          <p:nvPr/>
        </p:nvSpPr>
        <p:spPr>
          <a:xfrm>
            <a:off x="979009" y="4408507"/>
            <a:ext cx="170530" cy="2728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  <a:ea typeface="Calibri"/>
              <a:cs typeface="Calibri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95FDD1D-C3C9-CD41-2F76-FF8F80BA0A2C}"/>
              </a:ext>
            </a:extLst>
          </p:cNvPr>
          <p:cNvSpPr/>
          <p:nvPr/>
        </p:nvSpPr>
        <p:spPr>
          <a:xfrm>
            <a:off x="1004657" y="5159774"/>
            <a:ext cx="116868" cy="22991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C85D7EEF-9959-B57B-DF48-7CB24119BEDE}"/>
              </a:ext>
            </a:extLst>
          </p:cNvPr>
          <p:cNvCxnSpPr/>
          <p:nvPr/>
        </p:nvCxnSpPr>
        <p:spPr>
          <a:xfrm flipH="1">
            <a:off x="1151012" y="4390521"/>
            <a:ext cx="5678683" cy="931725"/>
          </a:xfrm>
          <a:prstGeom prst="curvedConnector3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9C88B1F-1CB7-9CC4-0E5C-9AFD36B1E03D}"/>
              </a:ext>
            </a:extLst>
          </p:cNvPr>
          <p:cNvSpPr txBox="1"/>
          <p:nvPr/>
        </p:nvSpPr>
        <p:spPr>
          <a:xfrm>
            <a:off x="1336824" y="6124519"/>
            <a:ext cx="322174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>
                <a:solidFill>
                  <a:srgbClr val="F79646"/>
                </a:solidFill>
                <a:ea typeface="Calibri"/>
                <a:cs typeface="Calibri"/>
              </a:rPr>
              <a:t>Finite State Machine  </a:t>
            </a:r>
          </a:p>
        </p:txBody>
      </p:sp>
      <p:cxnSp>
        <p:nvCxnSpPr>
          <p:cNvPr id="35" name="Connector: Curved 34">
            <a:extLst>
              <a:ext uri="{FF2B5EF4-FFF2-40B4-BE49-F238E27FC236}">
                <a16:creationId xmlns:a16="http://schemas.microsoft.com/office/drawing/2014/main" id="{58C20056-D4EE-032D-0184-B4D56CF8DC39}"/>
              </a:ext>
            </a:extLst>
          </p:cNvPr>
          <p:cNvCxnSpPr>
            <a:cxnSpLocks/>
          </p:cNvCxnSpPr>
          <p:nvPr/>
        </p:nvCxnSpPr>
        <p:spPr>
          <a:xfrm flipH="1">
            <a:off x="1204674" y="1997197"/>
            <a:ext cx="6118529" cy="2541583"/>
          </a:xfrm>
          <a:prstGeom prst="curvedConnector3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C88A68A-8243-876A-3CD0-2FB10A907F11}"/>
              </a:ext>
            </a:extLst>
          </p:cNvPr>
          <p:cNvSpPr txBox="1"/>
          <p:nvPr/>
        </p:nvSpPr>
        <p:spPr>
          <a:xfrm>
            <a:off x="7458002" y="2275674"/>
            <a:ext cx="78143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>
                <a:solidFill>
                  <a:srgbClr val="F79646"/>
                </a:solidFill>
                <a:ea typeface="Calibri"/>
                <a:cs typeface="Calibri"/>
              </a:rPr>
              <a:t>151</a:t>
            </a:r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B8BD955-EF70-9C29-D38A-B99451D82F38}"/>
              </a:ext>
            </a:extLst>
          </p:cNvPr>
          <p:cNvSpPr txBox="1"/>
          <p:nvPr/>
        </p:nvSpPr>
        <p:spPr>
          <a:xfrm>
            <a:off x="7496102" y="3542499"/>
            <a:ext cx="143865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>
                <a:solidFill>
                  <a:srgbClr val="F79646"/>
                </a:solidFill>
                <a:ea typeface="Calibri"/>
                <a:cs typeface="Calibri"/>
              </a:rPr>
              <a:t>151 MHz</a:t>
            </a:r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8522F6D-9157-3839-0751-EEBC4B5AF328}"/>
              </a:ext>
            </a:extLst>
          </p:cNvPr>
          <p:cNvSpPr txBox="1"/>
          <p:nvPr/>
        </p:nvSpPr>
        <p:spPr>
          <a:xfrm>
            <a:off x="5772077" y="5485599"/>
            <a:ext cx="143865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>
                <a:solidFill>
                  <a:srgbClr val="F79646"/>
                </a:solidFill>
                <a:ea typeface="Calibri"/>
                <a:cs typeface="Calibri"/>
              </a:rPr>
              <a:t>2.55</a:t>
            </a:r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D172B86-CBEF-7642-92C7-787C25951497}"/>
              </a:ext>
            </a:extLst>
          </p:cNvPr>
          <p:cNvSpPr txBox="1"/>
          <p:nvPr/>
        </p:nvSpPr>
        <p:spPr>
          <a:xfrm>
            <a:off x="3318" y="1536921"/>
            <a:ext cx="78143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err="1">
                <a:solidFill>
                  <a:srgbClr val="F79646"/>
                </a:solidFill>
                <a:ea typeface="Calibri"/>
                <a:cs typeface="Calibri"/>
              </a:rPr>
              <a:t>clk</a:t>
            </a:r>
            <a:endParaRPr lang="en-US" err="1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FA834B8-6A6E-06D5-F25F-64F6CA98CD1D}"/>
              </a:ext>
            </a:extLst>
          </p:cNvPr>
          <p:cNvSpPr txBox="1"/>
          <p:nvPr/>
        </p:nvSpPr>
        <p:spPr>
          <a:xfrm>
            <a:off x="-63841" y="2089694"/>
            <a:ext cx="9234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err="1">
                <a:solidFill>
                  <a:srgbClr val="F79646"/>
                </a:solidFill>
                <a:ea typeface="Calibri"/>
                <a:cs typeface="Calibri"/>
              </a:rPr>
              <a:t>Freq_in</a:t>
            </a:r>
            <a:endParaRPr lang="en-US" b="1">
              <a:solidFill>
                <a:srgbClr val="F79646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05539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9" grpId="0" animBg="1"/>
      <p:bldP spid="21" grpId="0" animBg="1"/>
      <p:bldP spid="24" grpId="0" animBg="1"/>
      <p:bldP spid="30" grpId="0" animBg="1"/>
      <p:bldP spid="7" grpId="0" animBg="1"/>
      <p:bldP spid="8" grpId="0" animBg="1"/>
      <p:bldP spid="10" grpId="0" animBg="1"/>
      <p:bldP spid="12" grpId="0"/>
      <p:bldP spid="20" grpId="0"/>
      <p:bldP spid="22" grpId="0" animBg="1"/>
      <p:bldP spid="25" grpId="0" animBg="1"/>
      <p:bldP spid="27" grpId="0"/>
      <p:bldP spid="29" grpId="0" animBg="1"/>
      <p:bldP spid="31" grpId="0"/>
      <p:bldP spid="32" grpId="0" animBg="1"/>
      <p:bldP spid="33" grpId="0" animBg="1"/>
      <p:bldP spid="37" grpId="0"/>
      <p:bldP spid="9" grpId="0"/>
      <p:bldP spid="28" grpId="0"/>
      <p:bldP spid="38" grpId="0"/>
      <p:bldP spid="40" grpId="0"/>
      <p:bldP spid="4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019113" y="700410"/>
            <a:ext cx="367609" cy="345553"/>
          </a:xfrm>
          <a:custGeom>
            <a:avLst/>
            <a:gdLst/>
            <a:ahLst/>
            <a:cxnLst/>
            <a:rect l="l" t="t" r="r" b="b"/>
            <a:pathLst>
              <a:path w="551414" h="518330">
                <a:moveTo>
                  <a:pt x="0" y="0"/>
                </a:moveTo>
                <a:lnTo>
                  <a:pt x="551414" y="0"/>
                </a:lnTo>
                <a:lnTo>
                  <a:pt x="551414" y="518330"/>
                </a:lnTo>
                <a:lnTo>
                  <a:pt x="0" y="5183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0946461" y="723075"/>
            <a:ext cx="559739" cy="300224"/>
          </a:xfrm>
          <a:custGeom>
            <a:avLst/>
            <a:gdLst/>
            <a:ahLst/>
            <a:cxnLst/>
            <a:rect l="l" t="t" r="r" b="b"/>
            <a:pathLst>
              <a:path w="839609" h="450336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0386723" y="723075"/>
            <a:ext cx="559739" cy="300224"/>
          </a:xfrm>
          <a:custGeom>
            <a:avLst/>
            <a:gdLst/>
            <a:ahLst/>
            <a:cxnLst/>
            <a:rect l="l" t="t" r="r" b="b"/>
            <a:pathLst>
              <a:path w="839609" h="450336">
                <a:moveTo>
                  <a:pt x="0" y="0"/>
                </a:moveTo>
                <a:lnTo>
                  <a:pt x="839608" y="0"/>
                </a:lnTo>
                <a:lnTo>
                  <a:pt x="839608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69854" y="6499865"/>
            <a:ext cx="1819325" cy="325045"/>
          </a:xfrm>
          <a:custGeom>
            <a:avLst/>
            <a:gdLst/>
            <a:ahLst/>
            <a:cxnLst/>
            <a:rect l="l" t="t" r="r" b="b"/>
            <a:pathLst>
              <a:path w="2728988" h="487567">
                <a:moveTo>
                  <a:pt x="0" y="0"/>
                </a:moveTo>
                <a:lnTo>
                  <a:pt x="2728988" y="0"/>
                </a:lnTo>
                <a:lnTo>
                  <a:pt x="2728988" y="487566"/>
                </a:lnTo>
                <a:lnTo>
                  <a:pt x="0" y="4875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80198" y="324446"/>
            <a:ext cx="5422847" cy="548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458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4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TESTING</a:t>
            </a:r>
            <a:endParaRPr kumimoji="0" lang="en-US" sz="364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K Modular"/>
              <a:ea typeface="HK Modular"/>
              <a:cs typeface="HK Modular"/>
              <a:sym typeface="HK Modular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F4238976-2C9A-44D6-7AFC-B90FC7E94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70317" y="6317302"/>
            <a:ext cx="1312025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F94CE6-4B3E-4E76-B420-26BBDCBE82E0}" type="slidenum">
              <a:rPr lang="en-US" sz="6600" dirty="0">
                <a:solidFill>
                  <a:schemeClr val="bg1"/>
                </a:solidFill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lang="en-US" sz="660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89EDA0D-8FF1-4800-339C-1BA1BCBA54AA}"/>
              </a:ext>
            </a:extLst>
          </p:cNvPr>
          <p:cNvSpPr txBox="1"/>
          <p:nvPr/>
        </p:nvSpPr>
        <p:spPr>
          <a:xfrm>
            <a:off x="2766348" y="411521"/>
            <a:ext cx="5213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 System</a:t>
            </a:r>
            <a:r>
              <a:rPr kumimoji="0" lang="en-US" sz="2400" b="1" i="0" u="none" strike="noStrike" kern="1200" cap="none" spc="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Functional Testing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 descr="A graph of different colored bars&#10;&#10;Description automatically generated">
            <a:extLst>
              <a:ext uri="{FF2B5EF4-FFF2-40B4-BE49-F238E27FC236}">
                <a16:creationId xmlns:a16="http://schemas.microsoft.com/office/drawing/2014/main" id="{105E1390-B932-6A7B-6A6B-6344B62AAB7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6877" y="1812433"/>
            <a:ext cx="5717956" cy="4350913"/>
          </a:xfrm>
          <a:prstGeom prst="rect">
            <a:avLst/>
          </a:prstGeom>
        </p:spPr>
      </p:pic>
      <p:pic>
        <p:nvPicPr>
          <p:cNvPr id="9" name="Picture 8" descr="A diagram of a computer&#10;&#10;Description automatically generated">
            <a:extLst>
              <a:ext uri="{FF2B5EF4-FFF2-40B4-BE49-F238E27FC236}">
                <a16:creationId xmlns:a16="http://schemas.microsoft.com/office/drawing/2014/main" id="{9E3BE3E0-A9D2-D402-A748-43D081E3831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7495" y="1795865"/>
            <a:ext cx="5928506" cy="4359987"/>
          </a:xfrm>
          <a:prstGeom prst="rect">
            <a:avLst/>
          </a:prstGeom>
        </p:spPr>
      </p:pic>
      <p:sp>
        <p:nvSpPr>
          <p:cNvPr id="28" name="Freeform 7">
            <a:extLst>
              <a:ext uri="{FF2B5EF4-FFF2-40B4-BE49-F238E27FC236}">
                <a16:creationId xmlns:a16="http://schemas.microsoft.com/office/drawing/2014/main" id="{74A920AF-9427-45B0-D3AE-E0A51671B709}"/>
              </a:ext>
            </a:extLst>
          </p:cNvPr>
          <p:cNvSpPr/>
          <p:nvPr/>
        </p:nvSpPr>
        <p:spPr>
          <a:xfrm>
            <a:off x="1886730" y="1190411"/>
            <a:ext cx="3447371" cy="537262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 lIns="91440" tIns="45720" rIns="91440" bIns="45720" anchor="t"/>
          <a:lstStyle/>
          <a:p>
            <a:pPr defTabSz="609630"/>
            <a:endParaRPr lang="en-US" sz="1200">
              <a:solidFill>
                <a:prstClr val="black"/>
              </a:solidFill>
              <a:ea typeface="Calibri"/>
              <a:cs typeface="Calibri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9D3BEC7-33C1-A0C6-A9D5-0424BC230152}"/>
              </a:ext>
            </a:extLst>
          </p:cNvPr>
          <p:cNvSpPr txBox="1"/>
          <p:nvPr/>
        </p:nvSpPr>
        <p:spPr>
          <a:xfrm>
            <a:off x="2049546" y="1188750"/>
            <a:ext cx="330542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>
                <a:solidFill>
                  <a:srgbClr val="F79646"/>
                </a:solidFill>
                <a:ea typeface="Calibri"/>
                <a:cs typeface="Calibri"/>
              </a:rPr>
              <a:t>System in Twin-Builder</a:t>
            </a:r>
            <a:endParaRPr lang="en-US"/>
          </a:p>
        </p:txBody>
      </p:sp>
      <p:sp>
        <p:nvSpPr>
          <p:cNvPr id="39" name="Freeform 7">
            <a:extLst>
              <a:ext uri="{FF2B5EF4-FFF2-40B4-BE49-F238E27FC236}">
                <a16:creationId xmlns:a16="http://schemas.microsoft.com/office/drawing/2014/main" id="{7A7D92D0-C2FC-A82B-AB74-CA6DC5C140EE}"/>
              </a:ext>
            </a:extLst>
          </p:cNvPr>
          <p:cNvSpPr/>
          <p:nvPr/>
        </p:nvSpPr>
        <p:spPr>
          <a:xfrm>
            <a:off x="7426792" y="1181825"/>
            <a:ext cx="3447371" cy="537262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 lIns="91440" tIns="45720" rIns="91440" bIns="45720" anchor="t"/>
          <a:lstStyle/>
          <a:p>
            <a:pPr defTabSz="609630"/>
            <a:endParaRPr lang="en-US" sz="1200">
              <a:solidFill>
                <a:prstClr val="black"/>
              </a:solidFill>
              <a:ea typeface="Calibri"/>
              <a:cs typeface="Calibri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098661F-2C0A-F376-2F1E-4FD446FED339}"/>
              </a:ext>
            </a:extLst>
          </p:cNvPr>
          <p:cNvSpPr txBox="1"/>
          <p:nvPr/>
        </p:nvSpPr>
        <p:spPr>
          <a:xfrm>
            <a:off x="7576729" y="1167285"/>
            <a:ext cx="330542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>
                <a:solidFill>
                  <a:srgbClr val="F79646"/>
                </a:solidFill>
                <a:ea typeface="Calibri"/>
                <a:cs typeface="Calibri"/>
              </a:rPr>
              <a:t>Results </a:t>
            </a:r>
          </a:p>
        </p:txBody>
      </p:sp>
    </p:spTree>
    <p:extLst>
      <p:ext uri="{BB962C8B-B14F-4D97-AF65-F5344CB8AC3E}">
        <p14:creationId xmlns:p14="http://schemas.microsoft.com/office/powerpoint/2010/main" val="3706689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8" grpId="0" animBg="1"/>
      <p:bldP spid="37" grpId="0"/>
      <p:bldP spid="39" grpId="0" animBg="1"/>
      <p:bldP spid="4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019113" y="700410"/>
            <a:ext cx="367609" cy="345553"/>
          </a:xfrm>
          <a:custGeom>
            <a:avLst/>
            <a:gdLst/>
            <a:ahLst/>
            <a:cxnLst/>
            <a:rect l="l" t="t" r="r" b="b"/>
            <a:pathLst>
              <a:path w="551414" h="518330">
                <a:moveTo>
                  <a:pt x="0" y="0"/>
                </a:moveTo>
                <a:lnTo>
                  <a:pt x="551414" y="0"/>
                </a:lnTo>
                <a:lnTo>
                  <a:pt x="551414" y="518330"/>
                </a:lnTo>
                <a:lnTo>
                  <a:pt x="0" y="5183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0946461" y="723075"/>
            <a:ext cx="559739" cy="300224"/>
          </a:xfrm>
          <a:custGeom>
            <a:avLst/>
            <a:gdLst/>
            <a:ahLst/>
            <a:cxnLst/>
            <a:rect l="l" t="t" r="r" b="b"/>
            <a:pathLst>
              <a:path w="839609" h="450336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0386723" y="723075"/>
            <a:ext cx="559739" cy="300224"/>
          </a:xfrm>
          <a:custGeom>
            <a:avLst/>
            <a:gdLst/>
            <a:ahLst/>
            <a:cxnLst/>
            <a:rect l="l" t="t" r="r" b="b"/>
            <a:pathLst>
              <a:path w="839609" h="450336">
                <a:moveTo>
                  <a:pt x="0" y="0"/>
                </a:moveTo>
                <a:lnTo>
                  <a:pt x="839608" y="0"/>
                </a:lnTo>
                <a:lnTo>
                  <a:pt x="839608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69854" y="6499865"/>
            <a:ext cx="1819325" cy="325045"/>
          </a:xfrm>
          <a:custGeom>
            <a:avLst/>
            <a:gdLst/>
            <a:ahLst/>
            <a:cxnLst/>
            <a:rect l="l" t="t" r="r" b="b"/>
            <a:pathLst>
              <a:path w="2728988" h="487567">
                <a:moveTo>
                  <a:pt x="0" y="0"/>
                </a:moveTo>
                <a:lnTo>
                  <a:pt x="2728988" y="0"/>
                </a:lnTo>
                <a:lnTo>
                  <a:pt x="2728988" y="487566"/>
                </a:lnTo>
                <a:lnTo>
                  <a:pt x="0" y="4875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80198" y="324446"/>
            <a:ext cx="5422847" cy="548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609630" rtl="0" eaLnBrk="1" fontAlgn="auto" latinLnBrk="0" hangingPunct="1">
              <a:lnSpc>
                <a:spcPts val="458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4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K Modular"/>
                <a:ea typeface="HK Modular"/>
                <a:cs typeface="HK Modular"/>
                <a:sym typeface="HK Modular"/>
              </a:rPr>
              <a:t>CONCLUSION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F4238976-2C9A-44D6-7AFC-B90FC7E94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4408" y="6168429"/>
            <a:ext cx="1312025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F94CE6-4B3E-4E76-B420-26BBDCBE82E0}" type="slidenum">
              <a:rPr lang="en-US" sz="6600">
                <a:solidFill>
                  <a:schemeClr val="bg1"/>
                </a:solidFill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lang="en-US" sz="660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89EDA0D-8FF1-4800-339C-1BA1BCBA54AA}"/>
              </a:ext>
            </a:extLst>
          </p:cNvPr>
          <p:cNvSpPr txBox="1"/>
          <p:nvPr/>
        </p:nvSpPr>
        <p:spPr>
          <a:xfrm>
            <a:off x="3788515" y="367983"/>
            <a:ext cx="60384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 Challenges</a:t>
            </a:r>
            <a:r>
              <a:rPr kumimoji="0" lang="en-US" sz="2400" b="1" i="0" u="none" strike="noStrike" kern="1200" cap="none" spc="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&amp; Future Ideas, Improvements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FC2BCD0E-345F-B903-D6E2-51B2531E1D34}"/>
              </a:ext>
            </a:extLst>
          </p:cNvPr>
          <p:cNvSpPr/>
          <p:nvPr/>
        </p:nvSpPr>
        <p:spPr>
          <a:xfrm>
            <a:off x="7913710" y="1574302"/>
            <a:ext cx="3826549" cy="251543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E09BC7-0077-1095-FE4D-B31477C3BBCB}"/>
              </a:ext>
            </a:extLst>
          </p:cNvPr>
          <p:cNvSpPr txBox="1"/>
          <p:nvPr/>
        </p:nvSpPr>
        <p:spPr>
          <a:xfrm>
            <a:off x="585455" y="4963894"/>
            <a:ext cx="7946198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FFFFFF"/>
                </a:solidFill>
                <a:ea typeface="Calibri"/>
                <a:cs typeface="Calibri"/>
              </a:rPr>
              <a:t>Key Issues :</a:t>
            </a: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ea typeface="Calibri"/>
                <a:cs typeface="Calibri"/>
              </a:rPr>
              <a:t>Complex Geometry</a:t>
            </a: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ea typeface="Calibri"/>
                <a:cs typeface="Calibri"/>
              </a:rPr>
              <a:t>Low sensitivity (fF/g) -&gt;  Extreme Amplification required.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9B6572-E66B-A452-7AE8-3BE8276ADB65}"/>
              </a:ext>
            </a:extLst>
          </p:cNvPr>
          <p:cNvSpPr txBox="1"/>
          <p:nvPr/>
        </p:nvSpPr>
        <p:spPr>
          <a:xfrm>
            <a:off x="8545453" y="2058078"/>
            <a:ext cx="395791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FFFFFF"/>
                </a:solidFill>
                <a:ea typeface="Calibri"/>
                <a:cs typeface="Calibri"/>
              </a:rPr>
              <a:t>Future :</a:t>
            </a:r>
          </a:p>
          <a:p>
            <a:pPr marL="285750" indent="-285750"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ea typeface="Calibri"/>
                <a:cs typeface="Calibri"/>
              </a:rPr>
              <a:t>Bulk proof mass Accelerometer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98E3716-A6CF-3D9C-B98E-F8F1B95CE5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1136654"/>
              </p:ext>
            </p:extLst>
          </p:nvPr>
        </p:nvGraphicFramePr>
        <p:xfrm>
          <a:off x="580198" y="1572279"/>
          <a:ext cx="7185999" cy="3342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5333">
                  <a:extLst>
                    <a:ext uri="{9D8B030D-6E8A-4147-A177-3AD203B41FA5}">
                      <a16:colId xmlns:a16="http://schemas.microsoft.com/office/drawing/2014/main" val="1281165066"/>
                    </a:ext>
                  </a:extLst>
                </a:gridCol>
                <a:gridCol w="2395333">
                  <a:extLst>
                    <a:ext uri="{9D8B030D-6E8A-4147-A177-3AD203B41FA5}">
                      <a16:colId xmlns:a16="http://schemas.microsoft.com/office/drawing/2014/main" val="3903303503"/>
                    </a:ext>
                  </a:extLst>
                </a:gridCol>
                <a:gridCol w="2395333">
                  <a:extLst>
                    <a:ext uri="{9D8B030D-6E8A-4147-A177-3AD203B41FA5}">
                      <a16:colId xmlns:a16="http://schemas.microsoft.com/office/drawing/2014/main" val="3662163610"/>
                    </a:ext>
                  </a:extLst>
                </a:gridCol>
              </a:tblGrid>
              <a:tr h="538039">
                <a:tc>
                  <a:txBody>
                    <a:bodyPr/>
                    <a:lstStyle/>
                    <a:p>
                      <a:r>
                        <a:rPr lang="en-US" sz="2000"/>
                        <a:t>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Specifications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Remarks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9828476"/>
                  </a:ext>
                </a:extLst>
              </a:tr>
              <a:tr h="538039">
                <a:tc>
                  <a:txBody>
                    <a:bodyPr/>
                    <a:lstStyle/>
                    <a:p>
                      <a:r>
                        <a:rPr lang="en-US" sz="2000"/>
                        <a:t>Acceleration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-4 to 4 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Achieved and Tested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0579970"/>
                  </a:ext>
                </a:extLst>
              </a:tr>
              <a:tr h="538039">
                <a:tc>
                  <a:txBody>
                    <a:bodyPr/>
                    <a:lstStyle/>
                    <a:p>
                      <a:r>
                        <a:rPr lang="en-US" sz="2000"/>
                        <a:t>Temperature 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Up to  51 degrees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Electrical Test Only  - Passed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1684312"/>
                  </a:ext>
                </a:extLst>
              </a:tr>
              <a:tr h="538039">
                <a:tc>
                  <a:txBody>
                    <a:bodyPr/>
                    <a:lstStyle/>
                    <a:p>
                      <a:r>
                        <a:rPr lang="en-US" sz="2000"/>
                        <a:t>Physical Prototype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PLA Material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Exist in Desired Dimensions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7653433"/>
                  </a:ext>
                </a:extLst>
              </a:tr>
              <a:tr h="538039">
                <a:tc>
                  <a:txBody>
                    <a:bodyPr/>
                    <a:lstStyle/>
                    <a:p>
                      <a:r>
                        <a:rPr lang="en-US" sz="2000"/>
                        <a:t>Frequency 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10Hz to 5 kHz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Tested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706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720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7" grpId="0" animBg="1"/>
      <p:bldP spid="14" grpId="0"/>
      <p:bldP spid="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905354" y="723075"/>
            <a:ext cx="367609" cy="345553"/>
          </a:xfrm>
          <a:custGeom>
            <a:avLst/>
            <a:gdLst/>
            <a:ahLst/>
            <a:cxnLst/>
            <a:rect l="l" t="t" r="r" b="b"/>
            <a:pathLst>
              <a:path w="551414" h="518330">
                <a:moveTo>
                  <a:pt x="0" y="0"/>
                </a:moveTo>
                <a:lnTo>
                  <a:pt x="551414" y="0"/>
                </a:lnTo>
                <a:lnTo>
                  <a:pt x="551414" y="518330"/>
                </a:lnTo>
                <a:lnTo>
                  <a:pt x="0" y="518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0946461" y="723075"/>
            <a:ext cx="559739" cy="300224"/>
          </a:xfrm>
          <a:custGeom>
            <a:avLst/>
            <a:gdLst/>
            <a:ahLst/>
            <a:cxnLst/>
            <a:rect l="l" t="t" r="r" b="b"/>
            <a:pathLst>
              <a:path w="839609" h="450336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0386723" y="723075"/>
            <a:ext cx="559739" cy="300224"/>
          </a:xfrm>
          <a:custGeom>
            <a:avLst/>
            <a:gdLst/>
            <a:ahLst/>
            <a:cxnLst/>
            <a:rect l="l" t="t" r="r" b="b"/>
            <a:pathLst>
              <a:path w="839609" h="450336">
                <a:moveTo>
                  <a:pt x="0" y="0"/>
                </a:moveTo>
                <a:lnTo>
                  <a:pt x="839608" y="0"/>
                </a:lnTo>
                <a:lnTo>
                  <a:pt x="839608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476681" y="6145052"/>
            <a:ext cx="1819325" cy="325045"/>
          </a:xfrm>
          <a:custGeom>
            <a:avLst/>
            <a:gdLst/>
            <a:ahLst/>
            <a:cxnLst/>
            <a:rect l="l" t="t" r="r" b="b"/>
            <a:pathLst>
              <a:path w="2728988" h="487567">
                <a:moveTo>
                  <a:pt x="0" y="0"/>
                </a:moveTo>
                <a:lnTo>
                  <a:pt x="2728988" y="0"/>
                </a:lnTo>
                <a:lnTo>
                  <a:pt x="2728988" y="487566"/>
                </a:lnTo>
                <a:lnTo>
                  <a:pt x="0" y="4875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545428" y="2432187"/>
            <a:ext cx="7455678" cy="943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7941"/>
              </a:lnSpc>
            </a:pPr>
            <a:r>
              <a:rPr lang="en-US" sz="6302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THANK YOU!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67469" y="3481901"/>
            <a:ext cx="8805494" cy="5224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ts val="199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As we look to the future, these technologies will play a crucial role in shaping a better world for generations to come.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8E1BB5-A9B6-649E-8929-D8BF27CC5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94CE6-4B3E-4E76-B420-26BBDCBE82E0}" type="slidenum">
              <a:rPr lang="en-US" smtClean="0">
                <a:solidFill>
                  <a:schemeClr val="tx1">
                    <a:lumMod val="95000"/>
                  </a:schemeClr>
                </a:solidFill>
              </a:rPr>
              <a:t>18</a:t>
            </a:fld>
            <a:endParaRPr lang="en-US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6C3DDF-4A2D-82FA-CAFD-938C9A0312C7}"/>
              </a:ext>
            </a:extLst>
          </p:cNvPr>
          <p:cNvSpPr txBox="1"/>
          <p:nvPr/>
        </p:nvSpPr>
        <p:spPr>
          <a:xfrm>
            <a:off x="1248697" y="1170038"/>
            <a:ext cx="27450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tx1">
                    <a:lumMod val="95000"/>
                  </a:schemeClr>
                </a:solidFill>
              </a:rPr>
              <a:t>Contributors - </a:t>
            </a:r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C93C7B-EF09-9906-DE68-3FBACB31BC7F}"/>
              </a:ext>
            </a:extLst>
          </p:cNvPr>
          <p:cNvSpPr txBox="1"/>
          <p:nvPr/>
        </p:nvSpPr>
        <p:spPr>
          <a:xfrm>
            <a:off x="1248697" y="2349910"/>
            <a:ext cx="31429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Ashutosh Sharma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Vaigunthan </a:t>
            </a:r>
            <a:r>
              <a:rPr lang="en-US" dirty="0" err="1">
                <a:solidFill>
                  <a:schemeClr val="tx1">
                    <a:lumMod val="95000"/>
                  </a:schemeClr>
                </a:solidFill>
              </a:rPr>
              <a:t>Puvanenthiram</a:t>
            </a:r>
            <a:endParaRPr lang="en-US" dirty="0">
              <a:solidFill>
                <a:schemeClr val="tx1">
                  <a:lumMod val="9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Mayada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Nabeel Jadon</a:t>
            </a:r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D4416F99-629F-05A6-608B-54357E2377ED}"/>
              </a:ext>
            </a:extLst>
          </p:cNvPr>
          <p:cNvSpPr/>
          <p:nvPr/>
        </p:nvSpPr>
        <p:spPr>
          <a:xfrm>
            <a:off x="9905354" y="723075"/>
            <a:ext cx="367609" cy="345553"/>
          </a:xfrm>
          <a:custGeom>
            <a:avLst/>
            <a:gdLst/>
            <a:ahLst/>
            <a:cxnLst/>
            <a:rect l="l" t="t" r="r" b="b"/>
            <a:pathLst>
              <a:path w="551414" h="518330">
                <a:moveTo>
                  <a:pt x="0" y="0"/>
                </a:moveTo>
                <a:lnTo>
                  <a:pt x="551414" y="0"/>
                </a:lnTo>
                <a:lnTo>
                  <a:pt x="551414" y="518330"/>
                </a:lnTo>
                <a:lnTo>
                  <a:pt x="0" y="518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30E8A92D-FF48-7453-F20F-9A2325CB522F}"/>
              </a:ext>
            </a:extLst>
          </p:cNvPr>
          <p:cNvSpPr/>
          <p:nvPr/>
        </p:nvSpPr>
        <p:spPr>
          <a:xfrm>
            <a:off x="10946461" y="723075"/>
            <a:ext cx="559739" cy="300224"/>
          </a:xfrm>
          <a:custGeom>
            <a:avLst/>
            <a:gdLst/>
            <a:ahLst/>
            <a:cxnLst/>
            <a:rect l="l" t="t" r="r" b="b"/>
            <a:pathLst>
              <a:path w="839609" h="450336">
                <a:moveTo>
                  <a:pt x="0" y="0"/>
                </a:moveTo>
                <a:lnTo>
                  <a:pt x="839609" y="0"/>
                </a:lnTo>
                <a:lnTo>
                  <a:pt x="839609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E952CD93-8005-424F-7C25-A98B88A97D07}"/>
              </a:ext>
            </a:extLst>
          </p:cNvPr>
          <p:cNvSpPr/>
          <p:nvPr/>
        </p:nvSpPr>
        <p:spPr>
          <a:xfrm>
            <a:off x="10386723" y="723075"/>
            <a:ext cx="559739" cy="300224"/>
          </a:xfrm>
          <a:custGeom>
            <a:avLst/>
            <a:gdLst/>
            <a:ahLst/>
            <a:cxnLst/>
            <a:rect l="l" t="t" r="r" b="b"/>
            <a:pathLst>
              <a:path w="839609" h="450336">
                <a:moveTo>
                  <a:pt x="0" y="0"/>
                </a:moveTo>
                <a:lnTo>
                  <a:pt x="839608" y="0"/>
                </a:lnTo>
                <a:lnTo>
                  <a:pt x="839608" y="450335"/>
                </a:lnTo>
                <a:lnTo>
                  <a:pt x="0" y="450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CAEC7316-27C5-8897-8E77-4640AEFFC198}"/>
              </a:ext>
            </a:extLst>
          </p:cNvPr>
          <p:cNvSpPr/>
          <p:nvPr/>
        </p:nvSpPr>
        <p:spPr>
          <a:xfrm>
            <a:off x="476681" y="6145052"/>
            <a:ext cx="1819325" cy="325045"/>
          </a:xfrm>
          <a:custGeom>
            <a:avLst/>
            <a:gdLst/>
            <a:ahLst/>
            <a:cxnLst/>
            <a:rect l="l" t="t" r="r" b="b"/>
            <a:pathLst>
              <a:path w="2728988" h="487567">
                <a:moveTo>
                  <a:pt x="0" y="0"/>
                </a:moveTo>
                <a:lnTo>
                  <a:pt x="2728988" y="0"/>
                </a:lnTo>
                <a:lnTo>
                  <a:pt x="2728988" y="487566"/>
                </a:lnTo>
                <a:lnTo>
                  <a:pt x="0" y="4875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/>
            <a:endParaRPr lang="en-US" sz="120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05017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a9b9a18-65fe-4113-ae98-6b4ee6062038" xsi:nil="true"/>
    <lcf76f155ced4ddcb4097134ff3c332f xmlns="88de22d2-5e04-49b3-8991-883b03201c78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D4CE217D238AC459BC3060F35D3E38E" ma:contentTypeVersion="12" ma:contentTypeDescription="Create a new document." ma:contentTypeScope="" ma:versionID="a95de778c273a6cd93710c36dc0e9741">
  <xsd:schema xmlns:xsd="http://www.w3.org/2001/XMLSchema" xmlns:xs="http://www.w3.org/2001/XMLSchema" xmlns:p="http://schemas.microsoft.com/office/2006/metadata/properties" xmlns:ns2="88de22d2-5e04-49b3-8991-883b03201c78" xmlns:ns3="7a9b9a18-65fe-4113-ae98-6b4ee6062038" targetNamespace="http://schemas.microsoft.com/office/2006/metadata/properties" ma:root="true" ma:fieldsID="7bcb87f961a078708399863cbd66e4cd" ns2:_="" ns3:_="">
    <xsd:import namespace="88de22d2-5e04-49b3-8991-883b03201c78"/>
    <xsd:import namespace="7a9b9a18-65fe-4113-ae98-6b4ee606203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de22d2-5e04-49b3-8991-883b03201c7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2d61bb93-c830-477f-800c-34a01ab1e7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9b9a18-65fe-4113-ae98-6b4ee6062038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8585ac02-f36e-4601-9fbc-aa7bc30bb451}" ma:internalName="TaxCatchAll" ma:showField="CatchAllData" ma:web="7a9b9a18-65fe-4113-ae98-6b4ee606203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2F6A189-9E69-4D70-AB0B-C05C84DBE1A9}">
  <ds:schemaRefs>
    <ds:schemaRef ds:uri="7a9b9a18-65fe-4113-ae98-6b4ee6062038"/>
    <ds:schemaRef ds:uri="88de22d2-5e04-49b3-8991-883b03201c78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F1E32E8-ACC6-4125-A02A-025FBB5890E6}">
  <ds:schemaRefs>
    <ds:schemaRef ds:uri="7a9b9a18-65fe-4113-ae98-6b4ee6062038"/>
    <ds:schemaRef ds:uri="88de22d2-5e04-49b3-8991-883b03201c7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5227FE8-2CA5-41B8-B778-36F9FB71E8F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475</Words>
  <Application>Microsoft Office PowerPoint</Application>
  <PresentationFormat>Widescreen</PresentationFormat>
  <Paragraphs>180</Paragraphs>
  <Slides>18</Slides>
  <Notes>14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Gruppo</vt:lpstr>
      <vt:lpstr>HK Modular</vt:lpstr>
      <vt:lpstr>Raleway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Puvanenthiram Vaigunthan</dc:creator>
  <cp:lastModifiedBy>Ashutosh Sharma</cp:lastModifiedBy>
  <cp:revision>41</cp:revision>
  <dcterms:created xsi:type="dcterms:W3CDTF">2024-12-07T18:59:00Z</dcterms:created>
  <dcterms:modified xsi:type="dcterms:W3CDTF">2025-03-11T14:53:18Z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0x0101002D4CE217D238AC459BC3060F35D3E38E</vt:lpwstr>
  </property>
  <property fmtid="{D5CDD505-2E9C-101B-9397-08002B2CF9AE}" pid="3" name="MediaServiceImageTags">
    <vt:lpwstr/>
  </property>
</Properties>
</file>